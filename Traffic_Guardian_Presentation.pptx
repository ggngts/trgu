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tg.mpnetwork.space" TargetMode="External"/><Relationship Id="rId3" Type="http://schemas.openxmlformats.org/officeDocument/2006/relationships/hyperlink" Target="https://tg.mpnetwork.space" TargetMode="Externa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ashboard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tg.mpnetwork.space" TargetMode="External"/><Relationship Id="rId3" Type="http://schemas.openxmlformats.org/officeDocument/2006/relationships/hyperlink" Target="https://tg.mpnetwork.spa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21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8153400" y="0"/>
            <a:ext cx="4038600" cy="6858000"/>
          </a:xfrm>
          <a:prstGeom prst="rect">
            <a:avLst/>
          </a:prstGeom>
          <a:solidFill>
            <a:srgbClr val="101D2A"/>
          </a:solidFill>
          <a:ln>
            <a:noFill/>
          </a:ln>
        </p:spPr>
      </p:sp>
      <p:sp>
        <p:nvSpPr>
          <p:cNvPr id="4" name="Circle 4"/>
          <p:cNvSpPr/>
          <p:nvPr/>
        </p:nvSpPr>
        <p:spPr>
          <a:xfrm>
            <a:off x="8991600" y="883920"/>
            <a:ext cx="1706880" cy="1706880"/>
          </a:xfrm>
          <a:prstGeom prst="ellipse">
            <a:avLst/>
          </a:prstGeom>
          <a:solidFill>
            <a:srgbClr val="102D38"/>
          </a:solidFill>
          <a:ln w="15240">
            <a:solidFill>
              <a:srgbClr val="00B59F"/>
            </a:solidFill>
          </a:ln>
        </p:spPr>
      </p:sp>
      <p:sp>
        <p:nvSpPr>
          <p:cNvPr id="5" name="Circle 5"/>
          <p:cNvSpPr/>
          <p:nvPr/>
        </p:nvSpPr>
        <p:spPr>
          <a:xfrm>
            <a:off x="9456420" y="1348740"/>
            <a:ext cx="777240" cy="777240"/>
          </a:xfrm>
          <a:prstGeom prst="ellipse">
            <a:avLst/>
          </a:prstGeom>
          <a:solidFill>
            <a:srgbClr val="087F78"/>
          </a:solidFill>
          <a:ln>
            <a:noFill/>
          </a:ln>
        </p:spPr>
      </p:sp>
      <p:sp>
        <p:nvSpPr>
          <p:cNvPr id="6" name="Circle 6"/>
          <p:cNvSpPr/>
          <p:nvPr/>
        </p:nvSpPr>
        <p:spPr>
          <a:xfrm>
            <a:off x="9715500" y="1607820"/>
            <a:ext cx="259080" cy="259080"/>
          </a:xfrm>
          <a:prstGeom prst="ellipse">
            <a:avLst/>
          </a:prstGeom>
          <a:solidFill>
            <a:srgbClr val="F0B35B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9067800" y="1981200"/>
            <a:ext cx="1737360" cy="1295400"/>
          </a:xfrm>
          <a:prstGeom prst="line">
            <a:avLst/>
          </a:prstGeom>
          <a:ln w="22860">
            <a:solidFill>
              <a:srgbClr val="00B59F"/>
            </a:solidFill>
            <a:headEnd type="none"/>
            <a:tailEnd type="none"/>
          </a:ln>
        </p:spPr>
      </p:sp>
      <p:sp>
        <p:nvSpPr>
          <p:cNvPr id="8" name="Line 8"/>
          <p:cNvSpPr/>
          <p:nvPr/>
        </p:nvSpPr>
        <p:spPr>
          <a:xfrm flipV="1">
            <a:off x="9822180" y="1295400"/>
            <a:ext cx="1104900" cy="556260"/>
          </a:xfrm>
          <a:prstGeom prst="line">
            <a:avLst/>
          </a:prstGeom>
          <a:ln w="22860">
            <a:solidFill>
              <a:srgbClr val="314054"/>
            </a:solidFill>
            <a:headEnd type="none"/>
            <a:tailEnd type="none"/>
          </a:ln>
        </p:spPr>
      </p:sp>
      <p:sp>
        <p:nvSpPr>
          <p:cNvPr id="9" name="Line 9"/>
          <p:cNvSpPr/>
          <p:nvPr/>
        </p:nvSpPr>
        <p:spPr>
          <a:xfrm>
            <a:off x="9845040" y="1973580"/>
            <a:ext cx="1447800" cy="2964180"/>
          </a:xfrm>
          <a:prstGeom prst="line">
            <a:avLst/>
          </a:prstGeom>
          <a:ln w="22860">
            <a:solidFill>
              <a:srgbClr val="314054"/>
            </a:solidFill>
            <a:headEnd type="none"/>
            <a:tailEnd type="none"/>
          </a:ln>
        </p:spPr>
      </p:sp>
      <p:sp>
        <p:nvSpPr>
          <p:cNvPr id="10" name="Circle 10"/>
          <p:cNvSpPr/>
          <p:nvPr/>
        </p:nvSpPr>
        <p:spPr>
          <a:xfrm>
            <a:off x="10591800" y="3048000"/>
            <a:ext cx="426720" cy="426720"/>
          </a:xfrm>
          <a:prstGeom prst="ellipse">
            <a:avLst/>
          </a:prstGeom>
          <a:solidFill>
            <a:srgbClr val="1C2939"/>
          </a:solidFill>
          <a:ln w="15240">
            <a:solidFill>
              <a:srgbClr val="00B59F"/>
            </a:solidFill>
          </a:ln>
        </p:spPr>
      </p:sp>
      <p:sp>
        <p:nvSpPr>
          <p:cNvPr id="11" name="Circle 11"/>
          <p:cNvSpPr/>
          <p:nvPr/>
        </p:nvSpPr>
        <p:spPr>
          <a:xfrm>
            <a:off x="10744200" y="1120140"/>
            <a:ext cx="320040" cy="320040"/>
          </a:xfrm>
          <a:prstGeom prst="ellipse">
            <a:avLst/>
          </a:prstGeom>
          <a:solidFill>
            <a:srgbClr val="1C2939"/>
          </a:solidFill>
          <a:ln w="15240">
            <a:solidFill>
              <a:srgbClr val="314054"/>
            </a:solidFill>
          </a:ln>
        </p:spPr>
      </p:sp>
      <p:sp>
        <p:nvSpPr>
          <p:cNvPr id="12" name="Circle 12"/>
          <p:cNvSpPr/>
          <p:nvPr/>
        </p:nvSpPr>
        <p:spPr>
          <a:xfrm>
            <a:off x="11094720" y="4808220"/>
            <a:ext cx="396240" cy="396240"/>
          </a:xfrm>
          <a:prstGeom prst="ellipse">
            <a:avLst/>
          </a:prstGeom>
          <a:solidFill>
            <a:srgbClr val="1C2939"/>
          </a:solidFill>
          <a:ln w="15240">
            <a:solidFill>
              <a:srgbClr val="314054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746760" y="723900"/>
            <a:ext cx="56388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840" b="1" i="0" kern="70">
                <a:solidFill>
                  <a:srgbClr val="00B59F"/>
                </a:solidFill>
                <a:latin typeface="Arial"/>
                <a:ea typeface="Arial"/>
                <a:cs typeface="Arial"/>
              </a:rPr>
              <a:t xml:space="preserve">ИНДИВИДУАЛЬНЫЙ ПРОЕКТ   /   СЕТЕВАЯ БЕЗОПАСНОСТЬ</a:t>
            </a:r>
            <a:endParaRPr lang="ru-RU" sz="840"/>
          </a:p>
        </p:txBody>
      </p:sp>
      <p:sp>
        <p:nvSpPr>
          <p:cNvPr id="14" name="Text 14"/>
          <p:cNvSpPr txBox="1"/>
          <p:nvPr/>
        </p:nvSpPr>
        <p:spPr>
          <a:xfrm>
            <a:off x="701040" y="1562100"/>
            <a:ext cx="70866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384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Traffic</a:t>
            </a:r>
            <a:endParaRPr lang="ru-RU" sz="3840"/>
          </a:p>
          <a:p>
            <a:pPr algn="l"/>
            <a:r>
              <a:rPr lang="ru-RU" sz="384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Guardian</a:t>
            </a:r>
            <a:endParaRPr lang="ru-RU" sz="3840"/>
          </a:p>
        </p:txBody>
      </p:sp>
      <p:sp>
        <p:nvSpPr>
          <p:cNvPr id="15" name="Text 15"/>
          <p:cNvSpPr txBox="1"/>
          <p:nvPr/>
        </p:nvSpPr>
        <p:spPr>
          <a:xfrm>
            <a:off x="746760" y="3162300"/>
            <a:ext cx="64770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86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Живой сетевой трафик —</a:t>
            </a:r>
            <a:endParaRPr lang="ru-RU" sz="1860"/>
          </a:p>
          <a:p>
            <a:pPr algn="l"/>
            <a:r>
              <a:rPr lang="ru-RU" sz="186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в одной понятной панели.</a:t>
            </a:r>
            <a:endParaRPr lang="ru-RU" sz="1860"/>
          </a:p>
        </p:txBody>
      </p:sp>
      <p:sp>
        <p:nvSpPr>
          <p:cNvPr id="16" name="Shape 16"/>
          <p:cNvSpPr/>
          <p:nvPr/>
        </p:nvSpPr>
        <p:spPr>
          <a:xfrm>
            <a:off x="746760" y="4343400"/>
            <a:ext cx="60960" cy="701040"/>
          </a:xfrm>
          <a:prstGeom prst="rect">
            <a:avLst/>
          </a:prstGeom>
          <a:solidFill>
            <a:srgbClr val="00B59F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990600" y="4343400"/>
            <a:ext cx="5791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200" b="0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Захват на сервере  ·  анализ пакетов</a:t>
            </a:r>
            <a:endParaRPr lang="ru-RU" sz="1200"/>
          </a:p>
          <a:p>
            <a:pPr algn="l"/>
            <a:r>
              <a:rPr lang="ru-RU" sz="1200" b="0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Локальные эвристики  ·  PCAP / PCAPNG</a:t>
            </a:r>
            <a:endParaRPr lang="ru-RU" sz="1200"/>
          </a:p>
        </p:txBody>
      </p:sp>
      <p:sp>
        <p:nvSpPr>
          <p:cNvPr id="18" name="Text 18"/>
          <p:cNvSpPr txBox="1"/>
          <p:nvPr/>
        </p:nvSpPr>
        <p:spPr>
          <a:xfrm>
            <a:off x="746760" y="5791200"/>
            <a:ext cx="45720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900" b="1" i="0" kern="70">
                <a:solidFill>
                  <a:srgbClr val="00B59F"/>
                </a:solidFill>
                <a:latin typeface="Arial"/>
                <a:ea typeface="Arial"/>
                <a:cs typeface="Arial"/>
                <a:hlinkClick r:id="rId2" tooltip="Открыть Traffic Guardian"/>
              </a:rPr>
              <a:t xml:space="preserve">ОТКРЫТЬ ПРОДУКТ  ↗</a:t>
            </a:r>
            <a:endParaRPr lang="ru-RU" sz="900"/>
          </a:p>
        </p:txBody>
      </p:sp>
      <p:sp>
        <p:nvSpPr>
          <p:cNvPr id="19" name="Text 19"/>
          <p:cNvSpPr txBox="1"/>
          <p:nvPr/>
        </p:nvSpPr>
        <p:spPr>
          <a:xfrm>
            <a:off x="746760" y="6111240"/>
            <a:ext cx="5486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140" b="0" i="0">
                <a:solidFill>
                  <a:srgbClr val="E8EEF5"/>
                </a:solidFill>
                <a:latin typeface="Arial"/>
                <a:ea typeface="Arial"/>
                <a:cs typeface="Arial"/>
                <a:hlinkClick r:id="rId3" tooltip="Открыть Traffic Guardian"/>
              </a:rPr>
              <a:t xml:space="preserve">tg.mpnetwork.space</a:t>
            </a:r>
            <a:endParaRPr lang="ru-RU" sz="1140"/>
          </a:p>
        </p:txBody>
      </p:sp>
      <p:sp>
        <p:nvSpPr>
          <p:cNvPr id="20" name="Text 20"/>
          <p:cNvSpPr txBox="1"/>
          <p:nvPr/>
        </p:nvSpPr>
        <p:spPr>
          <a:xfrm>
            <a:off x="10820400" y="624840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r"/>
            <a:r>
              <a:rPr lang="ru-RU" sz="720" b="1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01 / 08</a:t>
            </a:r>
            <a:endParaRPr lang="ru-RU" sz="7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21B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01040" y="441960"/>
            <a:ext cx="5334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780" b="1" i="0" kern="100">
                <a:solidFill>
                  <a:srgbClr val="00B59F"/>
                </a:solidFill>
                <a:latin typeface="Arial"/>
                <a:ea typeface="Arial"/>
                <a:cs typeface="Arial"/>
              </a:rPr>
              <a:t xml:space="preserve">TRAFFIC GUARDIAN   /   ЗАЧЕМ ЭТО НУЖНО</a:t>
            </a:r>
            <a:endParaRPr lang="ru-RU" sz="780"/>
          </a:p>
        </p:txBody>
      </p:sp>
      <p:sp>
        <p:nvSpPr>
          <p:cNvPr id="4" name="Line 4"/>
          <p:cNvSpPr/>
          <p:nvPr/>
        </p:nvSpPr>
        <p:spPr>
          <a:xfrm>
            <a:off x="701040" y="762000"/>
            <a:ext cx="10789920" cy="7620"/>
          </a:xfrm>
          <a:prstGeom prst="line">
            <a:avLst/>
          </a:prstGeom>
          <a:ln w="7620">
            <a:solidFill>
              <a:srgbClr val="314054"/>
            </a:solidFill>
            <a:headEnd type="none"/>
            <a:tailEnd type="none"/>
          </a:ln>
        </p:spPr>
      </p:sp>
      <p:sp>
        <p:nvSpPr>
          <p:cNvPr id="5" name="Text 5"/>
          <p:cNvSpPr txBox="1"/>
          <p:nvPr/>
        </p:nvSpPr>
        <p:spPr>
          <a:xfrm>
            <a:off x="11125200" y="6446520"/>
            <a:ext cx="381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r"/>
            <a:r>
              <a:rPr lang="ru-RU" sz="720" b="1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02</a:t>
            </a:r>
            <a:endParaRPr lang="ru-RU" sz="720"/>
          </a:p>
        </p:txBody>
      </p:sp>
      <p:sp>
        <p:nvSpPr>
          <p:cNvPr id="6" name="Text 6"/>
          <p:cNvSpPr txBox="1"/>
          <p:nvPr/>
        </p:nvSpPr>
        <p:spPr>
          <a:xfrm>
            <a:off x="701040" y="64465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660" b="1" i="0" kern="8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TRAFFIC GUARDIAN  •  NETWORK MONITORING</a:t>
            </a:r>
            <a:endParaRPr lang="ru-RU" sz="660"/>
          </a:p>
        </p:txBody>
      </p:sp>
      <p:sp>
        <p:nvSpPr>
          <p:cNvPr id="7" name="Text 7"/>
          <p:cNvSpPr txBox="1"/>
          <p:nvPr/>
        </p:nvSpPr>
        <p:spPr>
          <a:xfrm>
            <a:off x="701040" y="1082040"/>
            <a:ext cx="97536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240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От интерфейса — к</a:t>
            </a:r>
            <a:endParaRPr lang="ru-RU" sz="2400"/>
          </a:p>
          <a:p>
            <a:pPr algn="l"/>
            <a:r>
              <a:rPr lang="ru-RU" sz="240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понятной картине трафика</a:t>
            </a:r>
            <a:endParaRPr lang="ru-RU" sz="2400"/>
          </a:p>
        </p:txBody>
      </p:sp>
      <p:sp>
        <p:nvSpPr>
          <p:cNvPr id="8" name="Text 8"/>
          <p:cNvSpPr txBox="1"/>
          <p:nvPr/>
        </p:nvSpPr>
        <p:spPr>
          <a:xfrm>
            <a:off x="723900" y="1965960"/>
            <a:ext cx="9067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26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Traffic Guardian связывает захват, разбор и первичный анализ сетевых событий.</a:t>
            </a:r>
            <a:endParaRPr lang="ru-RU" sz="1260"/>
          </a:p>
        </p:txBody>
      </p:sp>
      <p:sp>
        <p:nvSpPr>
          <p:cNvPr id="9" name="Shape 9"/>
          <p:cNvSpPr/>
          <p:nvPr/>
        </p:nvSpPr>
        <p:spPr>
          <a:xfrm>
            <a:off x="723900" y="2895600"/>
            <a:ext cx="3276600" cy="2209800"/>
          </a:xfrm>
          <a:prstGeom prst="roundRect">
            <a:avLst/>
          </a:prstGeom>
          <a:solidFill>
            <a:srgbClr val="151F2D"/>
          </a:solidFill>
          <a:ln w="7620">
            <a:solidFill>
              <a:srgbClr val="314054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937260" y="31242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800" b="1" i="0">
                <a:solidFill>
                  <a:srgbClr val="00B59F"/>
                </a:solidFill>
                <a:latin typeface="Arial"/>
                <a:ea typeface="Arial"/>
                <a:cs typeface="Arial"/>
              </a:rPr>
              <a:t xml:space="preserve">01</a:t>
            </a:r>
            <a:endParaRPr lang="ru-RU" sz="1800"/>
          </a:p>
        </p:txBody>
      </p:sp>
      <p:sp>
        <p:nvSpPr>
          <p:cNvPr id="11" name="Text 11"/>
          <p:cNvSpPr txBox="1"/>
          <p:nvPr/>
        </p:nvSpPr>
        <p:spPr>
          <a:xfrm>
            <a:off x="937260" y="369570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020" b="1" i="0" kern="6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ЗАХВАТ</a:t>
            </a:r>
            <a:endParaRPr lang="ru-RU" sz="1020"/>
          </a:p>
        </p:txBody>
      </p:sp>
      <p:sp>
        <p:nvSpPr>
          <p:cNvPr id="12" name="Line 12"/>
          <p:cNvSpPr/>
          <p:nvPr/>
        </p:nvSpPr>
        <p:spPr>
          <a:xfrm>
            <a:off x="937260" y="4038600"/>
            <a:ext cx="2796540" cy="7620"/>
          </a:xfrm>
          <a:prstGeom prst="line">
            <a:avLst/>
          </a:prstGeom>
          <a:ln w="7620">
            <a:solidFill>
              <a:srgbClr val="314054"/>
            </a:solidFill>
            <a:headEnd type="none"/>
            <a:tailEnd type="none"/>
          </a:ln>
        </p:spPr>
      </p:sp>
      <p:sp>
        <p:nvSpPr>
          <p:cNvPr id="13" name="Text 13"/>
          <p:cNvSpPr txBox="1"/>
          <p:nvPr/>
        </p:nvSpPr>
        <p:spPr>
          <a:xfrm>
            <a:off x="937260" y="4229100"/>
            <a:ext cx="28194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14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tshark читает трафик</a:t>
            </a:r>
            <a:endParaRPr lang="ru-RU" sz="1140"/>
          </a:p>
          <a:p>
            <a:pPr algn="l"/>
            <a:r>
              <a:rPr lang="ru-RU" sz="114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на сетевом интерфейсе сервера.</a:t>
            </a:r>
            <a:endParaRPr lang="ru-RU" sz="1140"/>
          </a:p>
        </p:txBody>
      </p:sp>
      <p:sp>
        <p:nvSpPr>
          <p:cNvPr id="14" name="Shape 14"/>
          <p:cNvSpPr/>
          <p:nvPr/>
        </p:nvSpPr>
        <p:spPr>
          <a:xfrm>
            <a:off x="4457700" y="2895600"/>
            <a:ext cx="3276600" cy="2209800"/>
          </a:xfrm>
          <a:prstGeom prst="roundRect">
            <a:avLst/>
          </a:prstGeom>
          <a:solidFill>
            <a:srgbClr val="151F2D"/>
          </a:solidFill>
          <a:ln w="7620">
            <a:solidFill>
              <a:srgbClr val="314054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4671060" y="31242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800" b="1" i="0">
                <a:solidFill>
                  <a:srgbClr val="00B59F"/>
                </a:solidFill>
                <a:latin typeface="Arial"/>
                <a:ea typeface="Arial"/>
                <a:cs typeface="Arial"/>
              </a:rPr>
              <a:t xml:space="preserve">02</a:t>
            </a:r>
            <a:endParaRPr lang="ru-RU" sz="1800"/>
          </a:p>
        </p:txBody>
      </p:sp>
      <p:sp>
        <p:nvSpPr>
          <p:cNvPr id="16" name="Text 16"/>
          <p:cNvSpPr txBox="1"/>
          <p:nvPr/>
        </p:nvSpPr>
        <p:spPr>
          <a:xfrm>
            <a:off x="4671060" y="369570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020" b="1" i="0" kern="6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РАЗБОР</a:t>
            </a:r>
            <a:endParaRPr lang="ru-RU" sz="1020"/>
          </a:p>
        </p:txBody>
      </p:sp>
      <p:sp>
        <p:nvSpPr>
          <p:cNvPr id="17" name="Line 17"/>
          <p:cNvSpPr/>
          <p:nvPr/>
        </p:nvSpPr>
        <p:spPr>
          <a:xfrm>
            <a:off x="4671060" y="4038600"/>
            <a:ext cx="2796540" cy="7620"/>
          </a:xfrm>
          <a:prstGeom prst="line">
            <a:avLst/>
          </a:prstGeom>
          <a:ln w="7620">
            <a:solidFill>
              <a:srgbClr val="314054"/>
            </a:solidFill>
            <a:headEnd type="none"/>
            <a:tailEnd type="none"/>
          </a:ln>
        </p:spPr>
      </p:sp>
      <p:sp>
        <p:nvSpPr>
          <p:cNvPr id="18" name="Text 18"/>
          <p:cNvSpPr txBox="1"/>
          <p:nvPr/>
        </p:nvSpPr>
        <p:spPr>
          <a:xfrm>
            <a:off x="4671060" y="4229100"/>
            <a:ext cx="28194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14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Backend извлекает адреса,</a:t>
            </a:r>
            <a:endParaRPr lang="ru-RU" sz="1140"/>
          </a:p>
          <a:p>
            <a:pPr algn="l"/>
            <a:r>
              <a:rPr lang="ru-RU" sz="114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порты, протоколы и длину кадров.</a:t>
            </a:r>
            <a:endParaRPr lang="ru-RU" sz="1140"/>
          </a:p>
        </p:txBody>
      </p:sp>
      <p:sp>
        <p:nvSpPr>
          <p:cNvPr id="19" name="Shape 19"/>
          <p:cNvSpPr/>
          <p:nvPr/>
        </p:nvSpPr>
        <p:spPr>
          <a:xfrm>
            <a:off x="8191500" y="2895600"/>
            <a:ext cx="3276600" cy="2209800"/>
          </a:xfrm>
          <a:prstGeom prst="roundRect">
            <a:avLst/>
          </a:prstGeom>
          <a:solidFill>
            <a:srgbClr val="151F2D"/>
          </a:solidFill>
          <a:ln w="7620">
            <a:solidFill>
              <a:srgbClr val="314054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8404860" y="31242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800" b="1" i="0">
                <a:solidFill>
                  <a:srgbClr val="00B59F"/>
                </a:solidFill>
                <a:latin typeface="Arial"/>
                <a:ea typeface="Arial"/>
                <a:cs typeface="Arial"/>
              </a:rPr>
              <a:t xml:space="preserve">03</a:t>
            </a:r>
            <a:endParaRPr lang="ru-RU" sz="1800"/>
          </a:p>
        </p:txBody>
      </p:sp>
      <p:sp>
        <p:nvSpPr>
          <p:cNvPr id="21" name="Text 21"/>
          <p:cNvSpPr txBox="1"/>
          <p:nvPr/>
        </p:nvSpPr>
        <p:spPr>
          <a:xfrm>
            <a:off x="8404860" y="369570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020" b="1" i="0" kern="6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ОБЗОР</a:t>
            </a:r>
            <a:endParaRPr lang="ru-RU" sz="1020"/>
          </a:p>
        </p:txBody>
      </p:sp>
      <p:sp>
        <p:nvSpPr>
          <p:cNvPr id="22" name="Line 22"/>
          <p:cNvSpPr/>
          <p:nvPr/>
        </p:nvSpPr>
        <p:spPr>
          <a:xfrm>
            <a:off x="8404860" y="4038600"/>
            <a:ext cx="2796540" cy="7620"/>
          </a:xfrm>
          <a:prstGeom prst="line">
            <a:avLst/>
          </a:prstGeom>
          <a:ln w="7620">
            <a:solidFill>
              <a:srgbClr val="314054"/>
            </a:solidFill>
            <a:headEnd type="none"/>
            <a:tailEnd type="none"/>
          </a:ln>
        </p:spPr>
      </p:sp>
      <p:sp>
        <p:nvSpPr>
          <p:cNvPr id="23" name="Text 23"/>
          <p:cNvSpPr txBox="1"/>
          <p:nvPr/>
        </p:nvSpPr>
        <p:spPr>
          <a:xfrm>
            <a:off x="8404860" y="4229100"/>
            <a:ext cx="28194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14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Пакеты, сводка и эвристики</a:t>
            </a:r>
            <a:endParaRPr lang="ru-RU" sz="1140"/>
          </a:p>
          <a:p>
            <a:pPr algn="l"/>
            <a:r>
              <a:rPr lang="ru-RU" sz="114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обновляются в веб-панели.</a:t>
            </a:r>
            <a:endParaRPr lang="ru-RU" sz="1140"/>
          </a:p>
        </p:txBody>
      </p:sp>
      <p:sp>
        <p:nvSpPr>
          <p:cNvPr id="24" name="Text 24"/>
          <p:cNvSpPr txBox="1"/>
          <p:nvPr/>
        </p:nvSpPr>
        <p:spPr>
          <a:xfrm>
            <a:off x="746760" y="5524500"/>
            <a:ext cx="100584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32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Один экран вместо разрозненных команд и сырых строк захвата.</a:t>
            </a:r>
            <a:endParaRPr lang="ru-RU" sz="13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21B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01040" y="441960"/>
            <a:ext cx="5334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780" b="1" i="0" kern="100">
                <a:solidFill>
                  <a:srgbClr val="00B59F"/>
                </a:solidFill>
                <a:latin typeface="Arial"/>
                <a:ea typeface="Arial"/>
                <a:cs typeface="Arial"/>
              </a:rPr>
              <a:t xml:space="preserve">TRAFFIC GUARDIAN   /   ПРОДУКТ</a:t>
            </a:r>
            <a:endParaRPr lang="ru-RU" sz="780"/>
          </a:p>
        </p:txBody>
      </p:sp>
      <p:sp>
        <p:nvSpPr>
          <p:cNvPr id="4" name="Line 4"/>
          <p:cNvSpPr/>
          <p:nvPr/>
        </p:nvSpPr>
        <p:spPr>
          <a:xfrm>
            <a:off x="701040" y="762000"/>
            <a:ext cx="10789920" cy="7620"/>
          </a:xfrm>
          <a:prstGeom prst="line">
            <a:avLst/>
          </a:prstGeom>
          <a:ln w="7620">
            <a:solidFill>
              <a:srgbClr val="314054"/>
            </a:solidFill>
            <a:headEnd type="none"/>
            <a:tailEnd type="none"/>
          </a:ln>
        </p:spPr>
      </p:sp>
      <p:sp>
        <p:nvSpPr>
          <p:cNvPr id="5" name="Text 5"/>
          <p:cNvSpPr txBox="1"/>
          <p:nvPr/>
        </p:nvSpPr>
        <p:spPr>
          <a:xfrm>
            <a:off x="11125200" y="6446520"/>
            <a:ext cx="381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r"/>
            <a:r>
              <a:rPr lang="ru-RU" sz="720" b="1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03</a:t>
            </a:r>
            <a:endParaRPr lang="ru-RU" sz="720"/>
          </a:p>
        </p:txBody>
      </p:sp>
      <p:sp>
        <p:nvSpPr>
          <p:cNvPr id="6" name="Text 6"/>
          <p:cNvSpPr txBox="1"/>
          <p:nvPr/>
        </p:nvSpPr>
        <p:spPr>
          <a:xfrm>
            <a:off x="701040" y="64465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660" b="1" i="0" kern="8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TRAFFIC GUARDIAN  •  NETWORK MONITORING</a:t>
            </a:r>
            <a:endParaRPr lang="ru-RU" sz="660"/>
          </a:p>
        </p:txBody>
      </p:sp>
      <p:sp>
        <p:nvSpPr>
          <p:cNvPr id="7" name="Text 7"/>
          <p:cNvSpPr txBox="1"/>
          <p:nvPr/>
        </p:nvSpPr>
        <p:spPr>
          <a:xfrm>
            <a:off x="701040" y="990600"/>
            <a:ext cx="3581400" cy="5791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228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Рабочий экран</a:t>
            </a:r>
            <a:endParaRPr lang="ru-RU" sz="2280"/>
          </a:p>
        </p:txBody>
      </p:sp>
      <p:sp>
        <p:nvSpPr>
          <p:cNvPr id="8" name="Text 8"/>
          <p:cNvSpPr txBox="1"/>
          <p:nvPr/>
        </p:nvSpPr>
        <p:spPr>
          <a:xfrm>
            <a:off x="723900" y="1615440"/>
            <a:ext cx="312420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20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Текущий статус, последние пакеты,</a:t>
            </a:r>
            <a:endParaRPr lang="ru-RU" sz="1200"/>
          </a:p>
          <a:p>
            <a:pPr algn="l"/>
            <a:r>
              <a:rPr lang="ru-RU" sz="120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логи tshark и сводка — рядом.</a:t>
            </a:r>
            <a:endParaRPr lang="ru-RU" sz="1200"/>
          </a:p>
        </p:txBody>
      </p:sp>
      <p:sp>
        <p:nvSpPr>
          <p:cNvPr id="9" name="Shape 9"/>
          <p:cNvSpPr/>
          <p:nvPr/>
        </p:nvSpPr>
        <p:spPr>
          <a:xfrm>
            <a:off x="701040" y="2819400"/>
            <a:ext cx="2895600" cy="22860"/>
          </a:xfrm>
          <a:prstGeom prst="rect">
            <a:avLst/>
          </a:prstGeom>
          <a:solidFill>
            <a:srgbClr val="00B59F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701040" y="3086100"/>
            <a:ext cx="29718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840" b="1" i="0" kern="80">
                <a:solidFill>
                  <a:srgbClr val="00B59F"/>
                </a:solidFill>
                <a:latin typeface="Arial"/>
                <a:ea typeface="Arial"/>
                <a:cs typeface="Arial"/>
              </a:rPr>
              <a:t xml:space="preserve">LIVE-ПАНЕЛЬ</a:t>
            </a:r>
            <a:endParaRPr lang="ru-RU" sz="840"/>
          </a:p>
        </p:txBody>
      </p:sp>
      <p:sp>
        <p:nvSpPr>
          <p:cNvPr id="11" name="Text 11"/>
          <p:cNvSpPr txBox="1"/>
          <p:nvPr/>
        </p:nvSpPr>
        <p:spPr>
          <a:xfrm>
            <a:off x="701040" y="3429000"/>
            <a:ext cx="2971800" cy="990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320" b="0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Интерфейс показывает</a:t>
            </a:r>
            <a:endParaRPr lang="ru-RU" sz="1320"/>
          </a:p>
          <a:p>
            <a:pPr algn="l"/>
            <a:r>
              <a:rPr lang="ru-RU" sz="1320" b="0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состояние потока и даёт</a:t>
            </a:r>
            <a:endParaRPr lang="ru-RU" sz="1320"/>
          </a:p>
          <a:p>
            <a:pPr algn="l"/>
            <a:r>
              <a:rPr lang="ru-RU" sz="1320" b="0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быстро оценить, что происходит.</a:t>
            </a:r>
            <a:endParaRPr lang="ru-RU" sz="1320"/>
          </a:p>
        </p:txBody>
      </p:sp>
      <p:sp>
        <p:nvSpPr>
          <p:cNvPr id="12" name="Text 12"/>
          <p:cNvSpPr txBox="1"/>
          <p:nvPr/>
        </p:nvSpPr>
        <p:spPr>
          <a:xfrm>
            <a:off x="701040" y="5181600"/>
            <a:ext cx="3009900" cy="4876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02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Данные обновляются без</a:t>
            </a:r>
            <a:endParaRPr lang="ru-RU" sz="1020"/>
          </a:p>
          <a:p>
            <a:pPr algn="l"/>
            <a:r>
              <a:rPr lang="ru-RU" sz="102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перезагрузки страницы.</a:t>
            </a:r>
            <a:endParaRPr lang="ru-RU" sz="1020"/>
          </a:p>
        </p:txBody>
      </p:sp>
      <p:sp>
        <p:nvSpPr>
          <p:cNvPr id="13" name="Shape 13"/>
          <p:cNvSpPr/>
          <p:nvPr/>
        </p:nvSpPr>
        <p:spPr>
          <a:xfrm>
            <a:off x="3886200" y="990600"/>
            <a:ext cx="7620000" cy="4800600"/>
          </a:xfrm>
          <a:prstGeom prst="roundRect">
            <a:avLst/>
          </a:prstGeom>
          <a:solidFill>
            <a:srgbClr val="101925"/>
          </a:solidFill>
          <a:ln w="7620">
            <a:solidFill>
              <a:srgbClr val="314054"/>
            </a:solidFill>
          </a:ln>
        </p:spPr>
      </p:sp>
      <p:pic>
        <p:nvPicPr>
          <p:cNvPr id="14" name="Dashboard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880" y="1097280"/>
            <a:ext cx="7406640" cy="4625340"/>
          </a:xfrm>
          <a:prstGeom prst="roundRect">
            <a:avLst/>
          </a:prstGeom>
          <a:ln>
            <a:noFill/>
          </a:ln>
        </p:spPr>
      </p:pic>
      <p:sp>
        <p:nvSpPr>
          <p:cNvPr id="15" name="Text 15"/>
          <p:cNvSpPr txBox="1"/>
          <p:nvPr/>
        </p:nvSpPr>
        <p:spPr>
          <a:xfrm>
            <a:off x="701040" y="6035040"/>
            <a:ext cx="4572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72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Фактический скриншот веб-интерфейса Traffic Guardian</a:t>
            </a:r>
            <a:endParaRPr lang="ru-RU" sz="7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21B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01040" y="441960"/>
            <a:ext cx="5334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780" b="1" i="0" kern="100">
                <a:solidFill>
                  <a:srgbClr val="00B59F"/>
                </a:solidFill>
                <a:latin typeface="Arial"/>
                <a:ea typeface="Arial"/>
                <a:cs typeface="Arial"/>
              </a:rPr>
              <a:t xml:space="preserve">TRAFFIC GUARDIAN   /   КАК УСТРОЕНО</a:t>
            </a:r>
            <a:endParaRPr lang="ru-RU" sz="780"/>
          </a:p>
        </p:txBody>
      </p:sp>
      <p:sp>
        <p:nvSpPr>
          <p:cNvPr id="4" name="Line 4"/>
          <p:cNvSpPr/>
          <p:nvPr/>
        </p:nvSpPr>
        <p:spPr>
          <a:xfrm>
            <a:off x="701040" y="762000"/>
            <a:ext cx="10789920" cy="7620"/>
          </a:xfrm>
          <a:prstGeom prst="line">
            <a:avLst/>
          </a:prstGeom>
          <a:ln w="7620">
            <a:solidFill>
              <a:srgbClr val="314054"/>
            </a:solidFill>
            <a:headEnd type="none"/>
            <a:tailEnd type="none"/>
          </a:ln>
        </p:spPr>
      </p:sp>
      <p:sp>
        <p:nvSpPr>
          <p:cNvPr id="5" name="Text 5"/>
          <p:cNvSpPr txBox="1"/>
          <p:nvPr/>
        </p:nvSpPr>
        <p:spPr>
          <a:xfrm>
            <a:off x="11125200" y="6446520"/>
            <a:ext cx="381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r"/>
            <a:r>
              <a:rPr lang="ru-RU" sz="720" b="1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04</a:t>
            </a:r>
            <a:endParaRPr lang="ru-RU" sz="720"/>
          </a:p>
        </p:txBody>
      </p:sp>
      <p:sp>
        <p:nvSpPr>
          <p:cNvPr id="6" name="Text 6"/>
          <p:cNvSpPr txBox="1"/>
          <p:nvPr/>
        </p:nvSpPr>
        <p:spPr>
          <a:xfrm>
            <a:off x="701040" y="64465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660" b="1" i="0" kern="8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TRAFFIC GUARDIAN  •  NETWORK MONITORING</a:t>
            </a:r>
            <a:endParaRPr lang="ru-RU" sz="660"/>
          </a:p>
        </p:txBody>
      </p:sp>
      <p:sp>
        <p:nvSpPr>
          <p:cNvPr id="7" name="Text 7"/>
          <p:cNvSpPr txBox="1"/>
          <p:nvPr/>
        </p:nvSpPr>
        <p:spPr>
          <a:xfrm>
            <a:off x="701040" y="990600"/>
            <a:ext cx="9220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234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Live-поток идёт слева направо</a:t>
            </a:r>
            <a:endParaRPr lang="ru-RU" sz="2340"/>
          </a:p>
        </p:txBody>
      </p:sp>
      <p:sp>
        <p:nvSpPr>
          <p:cNvPr id="8" name="Text 8"/>
          <p:cNvSpPr txBox="1"/>
          <p:nvPr/>
        </p:nvSpPr>
        <p:spPr>
          <a:xfrm>
            <a:off x="723900" y="1562100"/>
            <a:ext cx="9525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14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Host-захват работает отдельно от backend-контейнера.</a:t>
            </a:r>
            <a:endParaRPr lang="ru-RU" sz="1140"/>
          </a:p>
        </p:txBody>
      </p:sp>
      <p:sp>
        <p:nvSpPr>
          <p:cNvPr id="9" name="Shape 9"/>
          <p:cNvSpPr/>
          <p:nvPr/>
        </p:nvSpPr>
        <p:spPr>
          <a:xfrm>
            <a:off x="701040" y="2667000"/>
            <a:ext cx="1905000" cy="1333500"/>
          </a:xfrm>
          <a:prstGeom prst="roundRect">
            <a:avLst/>
          </a:prstGeom>
          <a:solidFill>
            <a:srgbClr val="151F2D"/>
          </a:solidFill>
          <a:ln w="7620">
            <a:solidFill>
              <a:srgbClr val="314054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01040" y="2667000"/>
            <a:ext cx="1905000" cy="45720"/>
          </a:xfrm>
          <a:prstGeom prst="rect">
            <a:avLst/>
          </a:prstGeom>
          <a:solidFill>
            <a:srgbClr val="00B59F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853440" y="2933700"/>
            <a:ext cx="1638300" cy="518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14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СЕТЕВОЙ</a:t>
            </a:r>
            <a:endParaRPr lang="ru-RU" sz="1140"/>
          </a:p>
          <a:p>
            <a:pPr algn="l"/>
            <a:r>
              <a:rPr lang="ru-RU" sz="114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ИНТЕРФЕЙС</a:t>
            </a:r>
            <a:endParaRPr lang="ru-RU" sz="1140"/>
          </a:p>
        </p:txBody>
      </p:sp>
      <p:sp>
        <p:nvSpPr>
          <p:cNvPr id="12" name="Text 12"/>
          <p:cNvSpPr txBox="1"/>
          <p:nvPr/>
        </p:nvSpPr>
        <p:spPr>
          <a:xfrm>
            <a:off x="853440" y="3596640"/>
            <a:ext cx="16383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84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any</a:t>
            </a:r>
            <a:endParaRPr lang="ru-RU" sz="840"/>
          </a:p>
        </p:txBody>
      </p:sp>
      <p:sp>
        <p:nvSpPr>
          <p:cNvPr id="13" name="Line 13"/>
          <p:cNvSpPr/>
          <p:nvPr/>
        </p:nvSpPr>
        <p:spPr>
          <a:xfrm>
            <a:off x="2628900" y="3337560"/>
            <a:ext cx="236220" cy="7620"/>
          </a:xfrm>
          <a:prstGeom prst="line">
            <a:avLst/>
          </a:prstGeom>
          <a:ln w="22860">
            <a:solidFill>
              <a:srgbClr val="00B59F"/>
            </a:solidFill>
            <a:headEnd type="none"/>
            <a:tailEnd type="triangle" w="sm" len="sm"/>
          </a:ln>
        </p:spPr>
      </p:sp>
      <p:sp>
        <p:nvSpPr>
          <p:cNvPr id="14" name="Shape 14"/>
          <p:cNvSpPr/>
          <p:nvPr/>
        </p:nvSpPr>
        <p:spPr>
          <a:xfrm>
            <a:off x="2895600" y="2667000"/>
            <a:ext cx="1905000" cy="1333500"/>
          </a:xfrm>
          <a:prstGeom prst="roundRect">
            <a:avLst/>
          </a:prstGeom>
          <a:solidFill>
            <a:srgbClr val="151F2D"/>
          </a:solidFill>
          <a:ln w="7620">
            <a:solidFill>
              <a:srgbClr val="314054"/>
            </a:solidFill>
          </a:ln>
        </p:spPr>
      </p:sp>
      <p:sp>
        <p:nvSpPr>
          <p:cNvPr id="15" name="Shape 15"/>
          <p:cNvSpPr/>
          <p:nvPr/>
        </p:nvSpPr>
        <p:spPr>
          <a:xfrm>
            <a:off x="2895600" y="2667000"/>
            <a:ext cx="1905000" cy="45720"/>
          </a:xfrm>
          <a:prstGeom prst="rect">
            <a:avLst/>
          </a:prstGeom>
          <a:solidFill>
            <a:srgbClr val="00B59F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3048000" y="2933700"/>
            <a:ext cx="1638300" cy="518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14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HOST tshark</a:t>
            </a:r>
            <a:endParaRPr lang="ru-RU" sz="1140"/>
          </a:p>
        </p:txBody>
      </p:sp>
      <p:sp>
        <p:nvSpPr>
          <p:cNvPr id="17" name="Text 17"/>
          <p:cNvSpPr txBox="1"/>
          <p:nvPr/>
        </p:nvSpPr>
        <p:spPr>
          <a:xfrm>
            <a:off x="3048000" y="3596640"/>
            <a:ext cx="16383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84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Debian · systemd</a:t>
            </a:r>
            <a:endParaRPr lang="ru-RU" sz="840"/>
          </a:p>
        </p:txBody>
      </p:sp>
      <p:sp>
        <p:nvSpPr>
          <p:cNvPr id="18" name="Line 18"/>
          <p:cNvSpPr/>
          <p:nvPr/>
        </p:nvSpPr>
        <p:spPr>
          <a:xfrm>
            <a:off x="4823460" y="3337560"/>
            <a:ext cx="236220" cy="7620"/>
          </a:xfrm>
          <a:prstGeom prst="line">
            <a:avLst/>
          </a:prstGeom>
          <a:ln w="22860">
            <a:solidFill>
              <a:srgbClr val="00B59F"/>
            </a:solidFill>
            <a:headEnd type="none"/>
            <a:tailEnd type="triangle" w="sm" len="sm"/>
          </a:ln>
        </p:spPr>
      </p:sp>
      <p:sp>
        <p:nvSpPr>
          <p:cNvPr id="19" name="Shape 19"/>
          <p:cNvSpPr/>
          <p:nvPr/>
        </p:nvSpPr>
        <p:spPr>
          <a:xfrm>
            <a:off x="5090160" y="2667000"/>
            <a:ext cx="1905000" cy="1333500"/>
          </a:xfrm>
          <a:prstGeom prst="roundRect">
            <a:avLst/>
          </a:prstGeom>
          <a:solidFill>
            <a:srgbClr val="151F2D"/>
          </a:solidFill>
          <a:ln w="7620">
            <a:solidFill>
              <a:srgbClr val="314054"/>
            </a:solidFill>
          </a:ln>
        </p:spPr>
      </p:sp>
      <p:sp>
        <p:nvSpPr>
          <p:cNvPr id="20" name="Shape 20"/>
          <p:cNvSpPr/>
          <p:nvPr/>
        </p:nvSpPr>
        <p:spPr>
          <a:xfrm>
            <a:off x="5090160" y="2667000"/>
            <a:ext cx="1905000" cy="45720"/>
          </a:xfrm>
          <a:prstGeom prst="rect">
            <a:avLst/>
          </a:prstGeom>
          <a:solidFill>
            <a:srgbClr val="00B59F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5242560" y="2933700"/>
            <a:ext cx="1638300" cy="518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14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FIFO</a:t>
            </a:r>
            <a:endParaRPr lang="ru-RU" sz="1140"/>
          </a:p>
        </p:txBody>
      </p:sp>
      <p:sp>
        <p:nvSpPr>
          <p:cNvPr id="22" name="Text 22"/>
          <p:cNvSpPr txBox="1"/>
          <p:nvPr/>
        </p:nvSpPr>
        <p:spPr>
          <a:xfrm>
            <a:off x="5242560" y="3596640"/>
            <a:ext cx="16383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84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traffic.pcapng</a:t>
            </a:r>
            <a:endParaRPr lang="ru-RU" sz="840"/>
          </a:p>
        </p:txBody>
      </p:sp>
      <p:sp>
        <p:nvSpPr>
          <p:cNvPr id="23" name="Line 23"/>
          <p:cNvSpPr/>
          <p:nvPr/>
        </p:nvSpPr>
        <p:spPr>
          <a:xfrm>
            <a:off x="7018020" y="3337560"/>
            <a:ext cx="236220" cy="7620"/>
          </a:xfrm>
          <a:prstGeom prst="line">
            <a:avLst/>
          </a:prstGeom>
          <a:ln w="22860">
            <a:solidFill>
              <a:srgbClr val="00B59F"/>
            </a:solidFill>
            <a:headEnd type="none"/>
            <a:tailEnd type="triangle" w="sm" len="sm"/>
          </a:ln>
        </p:spPr>
      </p:sp>
      <p:sp>
        <p:nvSpPr>
          <p:cNvPr id="24" name="Shape 24"/>
          <p:cNvSpPr/>
          <p:nvPr/>
        </p:nvSpPr>
        <p:spPr>
          <a:xfrm>
            <a:off x="7284720" y="2667000"/>
            <a:ext cx="1905000" cy="1333500"/>
          </a:xfrm>
          <a:prstGeom prst="roundRect">
            <a:avLst/>
          </a:prstGeom>
          <a:solidFill>
            <a:srgbClr val="151F2D"/>
          </a:solidFill>
          <a:ln w="7620">
            <a:solidFill>
              <a:srgbClr val="314054"/>
            </a:solidFill>
          </a:ln>
        </p:spPr>
      </p:sp>
      <p:sp>
        <p:nvSpPr>
          <p:cNvPr id="25" name="Shape 25"/>
          <p:cNvSpPr/>
          <p:nvPr/>
        </p:nvSpPr>
        <p:spPr>
          <a:xfrm>
            <a:off x="7284720" y="2667000"/>
            <a:ext cx="1905000" cy="45720"/>
          </a:xfrm>
          <a:prstGeom prst="rect">
            <a:avLst/>
          </a:prstGeom>
          <a:solidFill>
            <a:srgbClr val="00B59F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7437120" y="2933700"/>
            <a:ext cx="1638300" cy="518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14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GO BACKEND</a:t>
            </a:r>
            <a:endParaRPr lang="ru-RU" sz="1140"/>
          </a:p>
        </p:txBody>
      </p:sp>
      <p:sp>
        <p:nvSpPr>
          <p:cNvPr id="27" name="Text 27"/>
          <p:cNvSpPr txBox="1"/>
          <p:nvPr/>
        </p:nvSpPr>
        <p:spPr>
          <a:xfrm>
            <a:off x="7437120" y="3596640"/>
            <a:ext cx="16383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84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tshark · эвристики</a:t>
            </a:r>
            <a:endParaRPr lang="ru-RU" sz="840"/>
          </a:p>
        </p:txBody>
      </p:sp>
      <p:sp>
        <p:nvSpPr>
          <p:cNvPr id="28" name="Line 28"/>
          <p:cNvSpPr/>
          <p:nvPr/>
        </p:nvSpPr>
        <p:spPr>
          <a:xfrm>
            <a:off x="9212580" y="3337560"/>
            <a:ext cx="236220" cy="7620"/>
          </a:xfrm>
          <a:prstGeom prst="line">
            <a:avLst/>
          </a:prstGeom>
          <a:ln w="22860">
            <a:solidFill>
              <a:srgbClr val="00B59F"/>
            </a:solidFill>
            <a:headEnd type="none"/>
            <a:tailEnd type="triangle" w="sm" len="sm"/>
          </a:ln>
        </p:spPr>
      </p:sp>
      <p:sp>
        <p:nvSpPr>
          <p:cNvPr id="29" name="Shape 29"/>
          <p:cNvSpPr/>
          <p:nvPr/>
        </p:nvSpPr>
        <p:spPr>
          <a:xfrm>
            <a:off x="9479280" y="2667000"/>
            <a:ext cx="1905000" cy="1333500"/>
          </a:xfrm>
          <a:prstGeom prst="roundRect">
            <a:avLst/>
          </a:prstGeom>
          <a:solidFill>
            <a:srgbClr val="151F2D"/>
          </a:solidFill>
          <a:ln w="7620">
            <a:solidFill>
              <a:srgbClr val="314054"/>
            </a:solidFill>
          </a:ln>
        </p:spPr>
      </p:sp>
      <p:sp>
        <p:nvSpPr>
          <p:cNvPr id="30" name="Shape 30"/>
          <p:cNvSpPr/>
          <p:nvPr/>
        </p:nvSpPr>
        <p:spPr>
          <a:xfrm>
            <a:off x="9479280" y="2667000"/>
            <a:ext cx="1905000" cy="45720"/>
          </a:xfrm>
          <a:prstGeom prst="rect">
            <a:avLst/>
          </a:prstGeom>
          <a:solidFill>
            <a:srgbClr val="F0B35B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9631680" y="2933700"/>
            <a:ext cx="1638300" cy="518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14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ВЕБ-ПАНЕЛЬ</a:t>
            </a:r>
            <a:endParaRPr lang="ru-RU" sz="1140"/>
          </a:p>
        </p:txBody>
      </p:sp>
      <p:sp>
        <p:nvSpPr>
          <p:cNvPr id="32" name="Text 32"/>
          <p:cNvSpPr txBox="1"/>
          <p:nvPr/>
        </p:nvSpPr>
        <p:spPr>
          <a:xfrm>
            <a:off x="9631680" y="3596640"/>
            <a:ext cx="16383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84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Vue · live stream</a:t>
            </a:r>
            <a:endParaRPr lang="ru-RU" sz="840"/>
          </a:p>
        </p:txBody>
      </p:sp>
      <p:sp>
        <p:nvSpPr>
          <p:cNvPr id="33" name="Shape 33"/>
          <p:cNvSpPr/>
          <p:nvPr/>
        </p:nvSpPr>
        <p:spPr>
          <a:xfrm>
            <a:off x="2903220" y="4724400"/>
            <a:ext cx="7048500" cy="800100"/>
          </a:xfrm>
          <a:prstGeom prst="roundRect">
            <a:avLst/>
          </a:prstGeom>
          <a:solidFill>
            <a:srgbClr val="1C2939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3093720" y="4907280"/>
            <a:ext cx="1737360" cy="243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840" b="1" i="0" kern="50">
                <a:solidFill>
                  <a:srgbClr val="F0B35B"/>
                </a:solidFill>
                <a:latin typeface="Arial"/>
                <a:ea typeface="Arial"/>
                <a:cs typeface="Arial"/>
              </a:rPr>
              <a:t xml:space="preserve">ЗАГРУЗКА ИЗ БРАУЗЕРА</a:t>
            </a:r>
            <a:endParaRPr lang="ru-RU" sz="840"/>
          </a:p>
        </p:txBody>
      </p:sp>
      <p:sp>
        <p:nvSpPr>
          <p:cNvPr id="35" name="Text 35"/>
          <p:cNvSpPr txBox="1"/>
          <p:nvPr/>
        </p:nvSpPr>
        <p:spPr>
          <a:xfrm>
            <a:off x="4991100" y="4861560"/>
            <a:ext cx="4572000" cy="4267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020" b="0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Браузер → backend → tshark: разбор PCAP / PCAPNG.</a:t>
            </a:r>
            <a:endParaRPr lang="ru-RU" sz="1020"/>
          </a:p>
          <a:p>
            <a:pPr algn="l"/>
            <a:r>
              <a:rPr lang="ru-RU" sz="1020" b="0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Этот путь не проходит через live FIFO.</a:t>
            </a:r>
            <a:endParaRPr lang="ru-RU" sz="1020"/>
          </a:p>
        </p:txBody>
      </p:sp>
      <p:sp>
        <p:nvSpPr>
          <p:cNvPr id="36" name="Text 36"/>
          <p:cNvSpPr txBox="1"/>
          <p:nvPr/>
        </p:nvSpPr>
        <p:spPr>
          <a:xfrm>
            <a:off x="701040" y="5943600"/>
            <a:ext cx="10287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08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Веб-клиент получает агрегированные данные и последние пакеты по SSE.</a:t>
            </a:r>
            <a:endParaRPr lang="ru-RU" sz="108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21B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01040" y="441960"/>
            <a:ext cx="5334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780" b="1" i="0" kern="100">
                <a:solidFill>
                  <a:srgbClr val="00B59F"/>
                </a:solidFill>
                <a:latin typeface="Arial"/>
                <a:ea typeface="Arial"/>
                <a:cs typeface="Arial"/>
              </a:rPr>
              <a:t xml:space="preserve">TRAFFIC GUARDIAN   /   ЧТО ВИДНО</a:t>
            </a:r>
            <a:endParaRPr lang="ru-RU" sz="780"/>
          </a:p>
        </p:txBody>
      </p:sp>
      <p:sp>
        <p:nvSpPr>
          <p:cNvPr id="4" name="Line 4"/>
          <p:cNvSpPr/>
          <p:nvPr/>
        </p:nvSpPr>
        <p:spPr>
          <a:xfrm>
            <a:off x="701040" y="762000"/>
            <a:ext cx="10789920" cy="7620"/>
          </a:xfrm>
          <a:prstGeom prst="line">
            <a:avLst/>
          </a:prstGeom>
          <a:ln w="7620">
            <a:solidFill>
              <a:srgbClr val="314054"/>
            </a:solidFill>
            <a:headEnd type="none"/>
            <a:tailEnd type="none"/>
          </a:ln>
        </p:spPr>
      </p:sp>
      <p:sp>
        <p:nvSpPr>
          <p:cNvPr id="5" name="Text 5"/>
          <p:cNvSpPr txBox="1"/>
          <p:nvPr/>
        </p:nvSpPr>
        <p:spPr>
          <a:xfrm>
            <a:off x="11125200" y="6446520"/>
            <a:ext cx="381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r"/>
            <a:r>
              <a:rPr lang="ru-RU" sz="720" b="1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05</a:t>
            </a:r>
            <a:endParaRPr lang="ru-RU" sz="720"/>
          </a:p>
        </p:txBody>
      </p:sp>
      <p:sp>
        <p:nvSpPr>
          <p:cNvPr id="6" name="Text 6"/>
          <p:cNvSpPr txBox="1"/>
          <p:nvPr/>
        </p:nvSpPr>
        <p:spPr>
          <a:xfrm>
            <a:off x="701040" y="64465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660" b="1" i="0" kern="8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TRAFFIC GUARDIAN  •  NETWORK MONITORING</a:t>
            </a:r>
            <a:endParaRPr lang="ru-RU" sz="660"/>
          </a:p>
        </p:txBody>
      </p:sp>
      <p:sp>
        <p:nvSpPr>
          <p:cNvPr id="7" name="Text 7"/>
          <p:cNvSpPr txBox="1"/>
          <p:nvPr/>
        </p:nvSpPr>
        <p:spPr>
          <a:xfrm>
            <a:off x="701040" y="1005840"/>
            <a:ext cx="9525000" cy="518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234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Трафик становится обозримым</a:t>
            </a:r>
            <a:endParaRPr lang="ru-RU" sz="2340"/>
          </a:p>
        </p:txBody>
      </p:sp>
      <p:sp>
        <p:nvSpPr>
          <p:cNvPr id="8" name="Text 8"/>
          <p:cNvSpPr txBox="1"/>
          <p:nvPr/>
        </p:nvSpPr>
        <p:spPr>
          <a:xfrm>
            <a:off x="723900" y="1584960"/>
            <a:ext cx="9677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14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Не «чёрный ящик»: каждое предупреждение опирается на измеримые признаки.</a:t>
            </a:r>
            <a:endParaRPr lang="ru-RU" sz="1140"/>
          </a:p>
        </p:txBody>
      </p:sp>
      <p:sp>
        <p:nvSpPr>
          <p:cNvPr id="9" name="Shape 9"/>
          <p:cNvSpPr/>
          <p:nvPr/>
        </p:nvSpPr>
        <p:spPr>
          <a:xfrm>
            <a:off x="723900" y="2438400"/>
            <a:ext cx="4953000" cy="1257300"/>
          </a:xfrm>
          <a:prstGeom prst="roundRect">
            <a:avLst/>
          </a:prstGeom>
          <a:solidFill>
            <a:srgbClr val="151F2D"/>
          </a:solidFill>
          <a:ln w="7620">
            <a:solidFill>
              <a:srgbClr val="314054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906780" y="2628900"/>
            <a:ext cx="4495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840" b="1" i="0" kern="70">
                <a:solidFill>
                  <a:srgbClr val="00B59F"/>
                </a:solidFill>
                <a:latin typeface="Arial"/>
                <a:ea typeface="Arial"/>
                <a:cs typeface="Arial"/>
              </a:rPr>
              <a:t xml:space="preserve">ПАКЕТЫ</a:t>
            </a:r>
            <a:endParaRPr lang="ru-RU" sz="840"/>
          </a:p>
        </p:txBody>
      </p:sp>
      <p:sp>
        <p:nvSpPr>
          <p:cNvPr id="11" name="Text 11"/>
          <p:cNvSpPr txBox="1"/>
          <p:nvPr/>
        </p:nvSpPr>
        <p:spPr>
          <a:xfrm>
            <a:off x="906780" y="2941320"/>
            <a:ext cx="44958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140" b="0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IP-адреса, порты, время, протокол и размер кадра.</a:t>
            </a:r>
            <a:endParaRPr lang="ru-RU" sz="1140"/>
          </a:p>
        </p:txBody>
      </p:sp>
      <p:sp>
        <p:nvSpPr>
          <p:cNvPr id="12" name="Shape 12"/>
          <p:cNvSpPr/>
          <p:nvPr/>
        </p:nvSpPr>
        <p:spPr>
          <a:xfrm>
            <a:off x="6096000" y="2438400"/>
            <a:ext cx="4953000" cy="1257300"/>
          </a:xfrm>
          <a:prstGeom prst="roundRect">
            <a:avLst/>
          </a:prstGeom>
          <a:solidFill>
            <a:srgbClr val="151F2D"/>
          </a:solidFill>
          <a:ln w="7620">
            <a:solidFill>
              <a:srgbClr val="314054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278880" y="2628900"/>
            <a:ext cx="4495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840" b="1" i="0" kern="70">
                <a:solidFill>
                  <a:srgbClr val="00B59F"/>
                </a:solidFill>
                <a:latin typeface="Arial"/>
                <a:ea typeface="Arial"/>
                <a:cs typeface="Arial"/>
              </a:rPr>
              <a:t xml:space="preserve">СТАТИСТИКА</a:t>
            </a:r>
            <a:endParaRPr lang="ru-RU" sz="840"/>
          </a:p>
        </p:txBody>
      </p:sp>
      <p:sp>
        <p:nvSpPr>
          <p:cNvPr id="14" name="Text 14"/>
          <p:cNvSpPr txBox="1"/>
          <p:nvPr/>
        </p:nvSpPr>
        <p:spPr>
          <a:xfrm>
            <a:off x="6278880" y="2941320"/>
            <a:ext cx="44958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140" b="0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Объём, скорость, доли протоколов и активные узлы.</a:t>
            </a:r>
            <a:endParaRPr lang="ru-RU" sz="1140"/>
          </a:p>
        </p:txBody>
      </p:sp>
      <p:sp>
        <p:nvSpPr>
          <p:cNvPr id="15" name="Shape 15"/>
          <p:cNvSpPr/>
          <p:nvPr/>
        </p:nvSpPr>
        <p:spPr>
          <a:xfrm>
            <a:off x="723900" y="4000500"/>
            <a:ext cx="4953000" cy="1257300"/>
          </a:xfrm>
          <a:prstGeom prst="roundRect">
            <a:avLst/>
          </a:prstGeom>
          <a:solidFill>
            <a:srgbClr val="151F2D"/>
          </a:solidFill>
          <a:ln w="7620">
            <a:solidFill>
              <a:srgbClr val="314054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906780" y="4191000"/>
            <a:ext cx="4495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840" b="1" i="0" kern="70">
                <a:solidFill>
                  <a:srgbClr val="00B59F"/>
                </a:solidFill>
                <a:latin typeface="Arial"/>
                <a:ea typeface="Arial"/>
                <a:cs typeface="Arial"/>
              </a:rPr>
              <a:t xml:space="preserve">СОЕДИНЕНИЯ</a:t>
            </a:r>
            <a:endParaRPr lang="ru-RU" sz="840"/>
          </a:p>
        </p:txBody>
      </p:sp>
      <p:sp>
        <p:nvSpPr>
          <p:cNvPr id="17" name="Text 17"/>
          <p:cNvSpPr txBox="1"/>
          <p:nvPr/>
        </p:nvSpPr>
        <p:spPr>
          <a:xfrm>
            <a:off x="906780" y="4503420"/>
            <a:ext cx="44958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140" b="0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Пары адресов и распределение сетевого обмена.</a:t>
            </a:r>
            <a:endParaRPr lang="ru-RU" sz="1140"/>
          </a:p>
        </p:txBody>
      </p:sp>
      <p:sp>
        <p:nvSpPr>
          <p:cNvPr id="18" name="Shape 18"/>
          <p:cNvSpPr/>
          <p:nvPr/>
        </p:nvSpPr>
        <p:spPr>
          <a:xfrm>
            <a:off x="6096000" y="4000500"/>
            <a:ext cx="4953000" cy="1257300"/>
          </a:xfrm>
          <a:prstGeom prst="roundRect">
            <a:avLst/>
          </a:prstGeom>
          <a:solidFill>
            <a:srgbClr val="151F2D"/>
          </a:solidFill>
          <a:ln w="7620">
            <a:solidFill>
              <a:srgbClr val="314054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6278880" y="4191000"/>
            <a:ext cx="4495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840" b="1" i="0" kern="70">
                <a:solidFill>
                  <a:srgbClr val="00B59F"/>
                </a:solidFill>
                <a:latin typeface="Arial"/>
                <a:ea typeface="Arial"/>
                <a:cs typeface="Arial"/>
              </a:rPr>
              <a:t xml:space="preserve">ЭВРИСТИКИ</a:t>
            </a:r>
            <a:endParaRPr lang="ru-RU" sz="840"/>
          </a:p>
        </p:txBody>
      </p:sp>
      <p:sp>
        <p:nvSpPr>
          <p:cNvPr id="20" name="Text 20"/>
          <p:cNvSpPr txBox="1"/>
          <p:nvPr/>
        </p:nvSpPr>
        <p:spPr>
          <a:xfrm>
            <a:off x="6278880" y="4503420"/>
            <a:ext cx="44958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140" b="0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Признаки сканирования, flood, DNS-аномалий и C2-поведения.</a:t>
            </a:r>
            <a:endParaRPr lang="ru-RU" sz="1140"/>
          </a:p>
        </p:txBody>
      </p:sp>
      <p:sp>
        <p:nvSpPr>
          <p:cNvPr id="21" name="Shape 21"/>
          <p:cNvSpPr/>
          <p:nvPr/>
        </p:nvSpPr>
        <p:spPr>
          <a:xfrm>
            <a:off x="723900" y="5753100"/>
            <a:ext cx="10287000" cy="365760"/>
          </a:xfrm>
          <a:prstGeom prst="roundRect">
            <a:avLst/>
          </a:prstGeom>
          <a:solidFill>
            <a:srgbClr val="182B35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883920" y="5852160"/>
            <a:ext cx="9982200" cy="2057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900" b="0" i="0">
                <a:solidFill>
                  <a:srgbClr val="F0B35B"/>
                </a:solidFill>
                <a:latin typeface="Arial"/>
                <a:ea typeface="Arial"/>
                <a:cs typeface="Arial"/>
              </a:rPr>
              <a:t xml:space="preserve">Эвристики помогают заметить сигнал; выводы требуют проверки по контексту и исходному трафику.</a:t>
            </a:r>
            <a:endParaRPr lang="ru-RU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21B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01040" y="441960"/>
            <a:ext cx="5334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780" b="1" i="0" kern="100">
                <a:solidFill>
                  <a:srgbClr val="00B59F"/>
                </a:solidFill>
                <a:latin typeface="Arial"/>
                <a:ea typeface="Arial"/>
                <a:cs typeface="Arial"/>
              </a:rPr>
              <a:t xml:space="preserve">TRAFFIC GUARDIAN   /   РАЗВЁРТЫВАНИЕ</a:t>
            </a:r>
            <a:endParaRPr lang="ru-RU" sz="780"/>
          </a:p>
        </p:txBody>
      </p:sp>
      <p:sp>
        <p:nvSpPr>
          <p:cNvPr id="4" name="Line 4"/>
          <p:cNvSpPr/>
          <p:nvPr/>
        </p:nvSpPr>
        <p:spPr>
          <a:xfrm>
            <a:off x="701040" y="762000"/>
            <a:ext cx="10789920" cy="7620"/>
          </a:xfrm>
          <a:prstGeom prst="line">
            <a:avLst/>
          </a:prstGeom>
          <a:ln w="7620">
            <a:solidFill>
              <a:srgbClr val="314054"/>
            </a:solidFill>
            <a:headEnd type="none"/>
            <a:tailEnd type="none"/>
          </a:ln>
        </p:spPr>
      </p:sp>
      <p:sp>
        <p:nvSpPr>
          <p:cNvPr id="5" name="Text 5"/>
          <p:cNvSpPr txBox="1"/>
          <p:nvPr/>
        </p:nvSpPr>
        <p:spPr>
          <a:xfrm>
            <a:off x="11125200" y="6446520"/>
            <a:ext cx="381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r"/>
            <a:r>
              <a:rPr lang="ru-RU" sz="720" b="1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06</a:t>
            </a:r>
            <a:endParaRPr lang="ru-RU" sz="720"/>
          </a:p>
        </p:txBody>
      </p:sp>
      <p:sp>
        <p:nvSpPr>
          <p:cNvPr id="6" name="Text 6"/>
          <p:cNvSpPr txBox="1"/>
          <p:nvPr/>
        </p:nvSpPr>
        <p:spPr>
          <a:xfrm>
            <a:off x="701040" y="64465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660" b="1" i="0" kern="8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TRAFFIC GUARDIAN  •  NETWORK MONITORING</a:t>
            </a:r>
            <a:endParaRPr lang="ru-RU" sz="660"/>
          </a:p>
        </p:txBody>
      </p:sp>
      <p:sp>
        <p:nvSpPr>
          <p:cNvPr id="7" name="Text 7"/>
          <p:cNvSpPr txBox="1"/>
          <p:nvPr/>
        </p:nvSpPr>
        <p:spPr>
          <a:xfrm>
            <a:off x="701040" y="1005840"/>
            <a:ext cx="9525000" cy="518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210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Захват — на хосте. Интерфейс — в браузере.</a:t>
            </a:r>
            <a:endParaRPr lang="ru-RU" sz="2100"/>
          </a:p>
        </p:txBody>
      </p:sp>
      <p:sp>
        <p:nvSpPr>
          <p:cNvPr id="8" name="Text 8"/>
          <p:cNvSpPr txBox="1"/>
          <p:nvPr/>
        </p:nvSpPr>
        <p:spPr>
          <a:xfrm>
            <a:off x="723900" y="1584960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14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Компоненты разделены по задаче и запускаются там, где у них есть нужный доступ.</a:t>
            </a:r>
            <a:endParaRPr lang="ru-RU" sz="1140"/>
          </a:p>
        </p:txBody>
      </p:sp>
      <p:sp>
        <p:nvSpPr>
          <p:cNvPr id="9" name="Shape 9"/>
          <p:cNvSpPr/>
          <p:nvPr/>
        </p:nvSpPr>
        <p:spPr>
          <a:xfrm>
            <a:off x="723900" y="2400300"/>
            <a:ext cx="4876800" cy="2895600"/>
          </a:xfrm>
          <a:prstGeom prst="roundRect">
            <a:avLst/>
          </a:prstGeom>
          <a:solidFill>
            <a:srgbClr val="151F2D"/>
          </a:solidFill>
          <a:ln w="7620">
            <a:solidFill>
              <a:srgbClr val="314054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960120" y="2621280"/>
            <a:ext cx="4191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900" b="1" i="0" kern="80">
                <a:solidFill>
                  <a:srgbClr val="00B59F"/>
                </a:solidFill>
                <a:latin typeface="Arial"/>
                <a:ea typeface="Arial"/>
                <a:cs typeface="Arial"/>
              </a:rPr>
              <a:t xml:space="preserve">DEBIAN HOST</a:t>
            </a:r>
            <a:endParaRPr lang="ru-RU" sz="900"/>
          </a:p>
        </p:txBody>
      </p:sp>
      <p:sp>
        <p:nvSpPr>
          <p:cNvPr id="11" name="Line 11"/>
          <p:cNvSpPr/>
          <p:nvPr/>
        </p:nvSpPr>
        <p:spPr>
          <a:xfrm>
            <a:off x="960120" y="3048000"/>
            <a:ext cx="4335780" cy="7620"/>
          </a:xfrm>
          <a:prstGeom prst="line">
            <a:avLst/>
          </a:prstGeom>
          <a:ln w="7620">
            <a:solidFill>
              <a:srgbClr val="314054"/>
            </a:solidFill>
            <a:headEnd type="none"/>
            <a:tailEnd type="none"/>
          </a:ln>
        </p:spPr>
      </p:sp>
      <p:sp>
        <p:nvSpPr>
          <p:cNvPr id="12" name="Text 12"/>
          <p:cNvSpPr txBox="1"/>
          <p:nvPr/>
        </p:nvSpPr>
        <p:spPr>
          <a:xfrm>
            <a:off x="960120" y="3291840"/>
            <a:ext cx="41910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26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systemd · tshark · интерфейс any</a:t>
            </a:r>
            <a:endParaRPr lang="ru-RU" sz="1260"/>
          </a:p>
        </p:txBody>
      </p:sp>
      <p:sp>
        <p:nvSpPr>
          <p:cNvPr id="13" name="Text 13"/>
          <p:cNvSpPr txBox="1"/>
          <p:nvPr/>
        </p:nvSpPr>
        <p:spPr>
          <a:xfrm>
            <a:off x="960120" y="3749040"/>
            <a:ext cx="41910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08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Захватчик видит сетевое пространство</a:t>
            </a:r>
            <a:endParaRPr lang="ru-RU" sz="1080"/>
          </a:p>
          <a:p>
            <a:pPr algn="l"/>
            <a:r>
              <a:rPr lang="ru-RU" sz="108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сервера и пишет непрерывный поток</a:t>
            </a:r>
            <a:endParaRPr lang="ru-RU" sz="1080"/>
          </a:p>
          <a:p>
            <a:pPr algn="l"/>
            <a:r>
              <a:rPr lang="ru-RU" sz="108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в FIFO с правами CAP_NET_RAW / NET_ADMIN.</a:t>
            </a:r>
            <a:endParaRPr lang="ru-RU" sz="1080"/>
          </a:p>
        </p:txBody>
      </p:sp>
      <p:sp>
        <p:nvSpPr>
          <p:cNvPr id="14" name="Shape 14"/>
          <p:cNvSpPr/>
          <p:nvPr/>
        </p:nvSpPr>
        <p:spPr>
          <a:xfrm>
            <a:off x="960120" y="4724400"/>
            <a:ext cx="4305300" cy="320040"/>
          </a:xfrm>
          <a:prstGeom prst="roundRect">
            <a:avLst/>
          </a:prstGeom>
          <a:solidFill>
            <a:srgbClr val="0D302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097280" y="4800600"/>
            <a:ext cx="40386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840" b="1" i="0">
                <a:solidFill>
                  <a:srgbClr val="00B59F"/>
                </a:solidFill>
                <a:latin typeface="Arial"/>
                <a:ea typeface="Arial"/>
                <a:cs typeface="Arial"/>
              </a:rPr>
              <a:t xml:space="preserve">/var/lib/traffic-guardian/traffic.pcapng</a:t>
            </a:r>
            <a:endParaRPr lang="ru-RU" sz="840"/>
          </a:p>
        </p:txBody>
      </p:sp>
      <p:sp>
        <p:nvSpPr>
          <p:cNvPr id="16" name="Line 16"/>
          <p:cNvSpPr/>
          <p:nvPr/>
        </p:nvSpPr>
        <p:spPr>
          <a:xfrm>
            <a:off x="5638800" y="3810000"/>
            <a:ext cx="876300" cy="7620"/>
          </a:xfrm>
          <a:prstGeom prst="line">
            <a:avLst/>
          </a:prstGeom>
          <a:ln w="30480">
            <a:solidFill>
              <a:srgbClr val="00B59F"/>
            </a:solidFill>
            <a:headEnd type="none"/>
            <a:tailEnd type="triangle" w="sm" len="sm"/>
          </a:ln>
        </p:spPr>
      </p:sp>
      <p:sp>
        <p:nvSpPr>
          <p:cNvPr id="17" name="Text 17"/>
          <p:cNvSpPr txBox="1"/>
          <p:nvPr/>
        </p:nvSpPr>
        <p:spPr>
          <a:xfrm>
            <a:off x="5844540" y="3505200"/>
            <a:ext cx="563880" cy="213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lang="ru-RU" sz="720" b="1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FIFO</a:t>
            </a:r>
            <a:endParaRPr lang="ru-RU" sz="720"/>
          </a:p>
        </p:txBody>
      </p:sp>
      <p:sp>
        <p:nvSpPr>
          <p:cNvPr id="18" name="Shape 18"/>
          <p:cNvSpPr/>
          <p:nvPr/>
        </p:nvSpPr>
        <p:spPr>
          <a:xfrm>
            <a:off x="6591300" y="2400300"/>
            <a:ext cx="4876800" cy="2895600"/>
          </a:xfrm>
          <a:prstGeom prst="roundRect">
            <a:avLst/>
          </a:prstGeom>
          <a:solidFill>
            <a:srgbClr val="151F2D"/>
          </a:solidFill>
          <a:ln w="7620">
            <a:solidFill>
              <a:srgbClr val="314054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6842760" y="2621280"/>
            <a:ext cx="4267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900" b="1" i="0" kern="80">
                <a:solidFill>
                  <a:srgbClr val="F0B35B"/>
                </a:solidFill>
                <a:latin typeface="Arial"/>
                <a:ea typeface="Arial"/>
                <a:cs typeface="Arial"/>
              </a:rPr>
              <a:t xml:space="preserve">COOLIFY / WEB</a:t>
            </a:r>
            <a:endParaRPr lang="ru-RU" sz="900"/>
          </a:p>
        </p:txBody>
      </p:sp>
      <p:sp>
        <p:nvSpPr>
          <p:cNvPr id="20" name="Line 20"/>
          <p:cNvSpPr/>
          <p:nvPr/>
        </p:nvSpPr>
        <p:spPr>
          <a:xfrm>
            <a:off x="6842760" y="3048000"/>
            <a:ext cx="4335780" cy="7620"/>
          </a:xfrm>
          <a:prstGeom prst="line">
            <a:avLst/>
          </a:prstGeom>
          <a:ln w="7620">
            <a:solidFill>
              <a:srgbClr val="314054"/>
            </a:solidFill>
            <a:headEnd type="none"/>
            <a:tailEnd type="none"/>
          </a:ln>
        </p:spPr>
      </p:sp>
      <p:sp>
        <p:nvSpPr>
          <p:cNvPr id="21" name="Text 21"/>
          <p:cNvSpPr txBox="1"/>
          <p:nvPr/>
        </p:nvSpPr>
        <p:spPr>
          <a:xfrm>
            <a:off x="6842760" y="3291840"/>
            <a:ext cx="41910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26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Go backend + Vue frontend</a:t>
            </a:r>
            <a:endParaRPr lang="ru-RU" sz="1260"/>
          </a:p>
        </p:txBody>
      </p:sp>
      <p:sp>
        <p:nvSpPr>
          <p:cNvPr id="22" name="Text 22"/>
          <p:cNvSpPr txBox="1"/>
          <p:nvPr/>
        </p:nvSpPr>
        <p:spPr>
          <a:xfrm>
            <a:off x="6842760" y="3749040"/>
            <a:ext cx="41910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08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Backend читает FIFO через bind mount,</a:t>
            </a:r>
            <a:endParaRPr lang="ru-RU" sz="1080"/>
          </a:p>
          <a:p>
            <a:pPr algn="l"/>
            <a:r>
              <a:rPr lang="ru-RU" sz="108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считает показатели и отправляет события</a:t>
            </a:r>
            <a:endParaRPr lang="ru-RU" sz="1080"/>
          </a:p>
          <a:p>
            <a:pPr algn="l"/>
            <a:r>
              <a:rPr lang="ru-RU" sz="108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в браузер по SSE.</a:t>
            </a:r>
            <a:endParaRPr lang="ru-RU" sz="1080"/>
          </a:p>
        </p:txBody>
      </p:sp>
      <p:sp>
        <p:nvSpPr>
          <p:cNvPr id="23" name="Shape 23"/>
          <p:cNvSpPr/>
          <p:nvPr/>
        </p:nvSpPr>
        <p:spPr>
          <a:xfrm>
            <a:off x="6842760" y="4724400"/>
            <a:ext cx="4305300" cy="320040"/>
          </a:xfrm>
          <a:prstGeom prst="roundRect">
            <a:avLst/>
          </a:prstGeom>
          <a:solidFill>
            <a:srgbClr val="32291C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6979920" y="4800600"/>
            <a:ext cx="40386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840" b="1" i="0">
                <a:solidFill>
                  <a:srgbClr val="F0B35B"/>
                </a:solidFill>
                <a:latin typeface="Arial"/>
                <a:ea typeface="Arial"/>
                <a:cs typeface="Arial"/>
              </a:rPr>
              <a:t xml:space="preserve">CAPTURE_PIPE=/capture/traffic.pcapng</a:t>
            </a:r>
            <a:endParaRPr lang="ru-RU" sz="840"/>
          </a:p>
        </p:txBody>
      </p:sp>
      <p:sp>
        <p:nvSpPr>
          <p:cNvPr id="25" name="Text 25"/>
          <p:cNvSpPr txBox="1"/>
          <p:nvPr/>
        </p:nvSpPr>
        <p:spPr>
          <a:xfrm>
            <a:off x="723900" y="5791200"/>
            <a:ext cx="10287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08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Результат: tshark захватывает трафик сервера, а не только сеть контейнера.</a:t>
            </a:r>
            <a:endParaRPr lang="ru-RU" sz="108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21B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01040" y="441960"/>
            <a:ext cx="5334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780" b="1" i="0" kern="100">
                <a:solidFill>
                  <a:srgbClr val="00B59F"/>
                </a:solidFill>
                <a:latin typeface="Arial"/>
                <a:ea typeface="Arial"/>
                <a:cs typeface="Arial"/>
              </a:rPr>
              <a:t xml:space="preserve">TRAFFIC GUARDIAN   /   ГРАНИЦЫ И ДАННЫЕ</a:t>
            </a:r>
            <a:endParaRPr lang="ru-RU" sz="780"/>
          </a:p>
        </p:txBody>
      </p:sp>
      <p:sp>
        <p:nvSpPr>
          <p:cNvPr id="4" name="Line 4"/>
          <p:cNvSpPr/>
          <p:nvPr/>
        </p:nvSpPr>
        <p:spPr>
          <a:xfrm>
            <a:off x="701040" y="762000"/>
            <a:ext cx="10789920" cy="7620"/>
          </a:xfrm>
          <a:prstGeom prst="line">
            <a:avLst/>
          </a:prstGeom>
          <a:ln w="7620">
            <a:solidFill>
              <a:srgbClr val="314054"/>
            </a:solidFill>
            <a:headEnd type="none"/>
            <a:tailEnd type="none"/>
          </a:ln>
        </p:spPr>
      </p:sp>
      <p:sp>
        <p:nvSpPr>
          <p:cNvPr id="5" name="Text 5"/>
          <p:cNvSpPr txBox="1"/>
          <p:nvPr/>
        </p:nvSpPr>
        <p:spPr>
          <a:xfrm>
            <a:off x="11125200" y="6446520"/>
            <a:ext cx="381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r"/>
            <a:r>
              <a:rPr lang="ru-RU" sz="720" b="1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07</a:t>
            </a:r>
            <a:endParaRPr lang="ru-RU" sz="720"/>
          </a:p>
        </p:txBody>
      </p:sp>
      <p:sp>
        <p:nvSpPr>
          <p:cNvPr id="6" name="Text 6"/>
          <p:cNvSpPr txBox="1"/>
          <p:nvPr/>
        </p:nvSpPr>
        <p:spPr>
          <a:xfrm>
            <a:off x="701040" y="644652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660" b="1" i="0" kern="8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TRAFFIC GUARDIAN  •  NETWORK MONITORING</a:t>
            </a:r>
            <a:endParaRPr lang="ru-RU" sz="660"/>
          </a:p>
        </p:txBody>
      </p:sp>
      <p:sp>
        <p:nvSpPr>
          <p:cNvPr id="7" name="Text 7"/>
          <p:cNvSpPr txBox="1"/>
          <p:nvPr/>
        </p:nvSpPr>
        <p:spPr>
          <a:xfrm>
            <a:off x="701040" y="1005840"/>
            <a:ext cx="9525000" cy="518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228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Прозрачная обработка данных</a:t>
            </a:r>
            <a:endParaRPr lang="ru-RU" sz="2280"/>
          </a:p>
        </p:txBody>
      </p:sp>
      <p:sp>
        <p:nvSpPr>
          <p:cNvPr id="8" name="Text 8"/>
          <p:cNvSpPr txBox="1"/>
          <p:nvPr/>
        </p:nvSpPr>
        <p:spPr>
          <a:xfrm>
            <a:off x="723900" y="1584960"/>
            <a:ext cx="9677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14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Анализ выполняется локальными инструментами проекта.</a:t>
            </a:r>
            <a:endParaRPr lang="ru-RU" sz="1140"/>
          </a:p>
        </p:txBody>
      </p:sp>
      <p:sp>
        <p:nvSpPr>
          <p:cNvPr id="9" name="Text 9"/>
          <p:cNvSpPr txBox="1"/>
          <p:nvPr/>
        </p:nvSpPr>
        <p:spPr>
          <a:xfrm>
            <a:off x="762000" y="2400300"/>
            <a:ext cx="4191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900" b="1" i="0">
                <a:solidFill>
                  <a:srgbClr val="00B59F"/>
                </a:solidFill>
                <a:latin typeface="Arial"/>
                <a:ea typeface="Arial"/>
                <a:cs typeface="Arial"/>
              </a:rPr>
              <a:t xml:space="preserve">01</a:t>
            </a:r>
            <a:endParaRPr lang="ru-RU" sz="900"/>
          </a:p>
        </p:txBody>
      </p:sp>
      <p:sp>
        <p:nvSpPr>
          <p:cNvPr id="10" name="Text 10"/>
          <p:cNvSpPr txBox="1"/>
          <p:nvPr/>
        </p:nvSpPr>
        <p:spPr>
          <a:xfrm>
            <a:off x="1371600" y="2400300"/>
            <a:ext cx="350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20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Локальный разбор</a:t>
            </a:r>
            <a:endParaRPr lang="ru-RU" sz="1200"/>
          </a:p>
        </p:txBody>
      </p:sp>
      <p:sp>
        <p:nvSpPr>
          <p:cNvPr id="11" name="Text 11"/>
          <p:cNvSpPr txBox="1"/>
          <p:nvPr/>
        </p:nvSpPr>
        <p:spPr>
          <a:xfrm>
            <a:off x="5181600" y="2400300"/>
            <a:ext cx="5867400" cy="396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02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Трафик обрабатывается на сервере, без внешних аналитических API.</a:t>
            </a:r>
            <a:endParaRPr lang="ru-RU" sz="1020"/>
          </a:p>
        </p:txBody>
      </p:sp>
      <p:sp>
        <p:nvSpPr>
          <p:cNvPr id="12" name="Line 12"/>
          <p:cNvSpPr/>
          <p:nvPr/>
        </p:nvSpPr>
        <p:spPr>
          <a:xfrm>
            <a:off x="1371600" y="2979420"/>
            <a:ext cx="9677400" cy="7620"/>
          </a:xfrm>
          <a:prstGeom prst="line">
            <a:avLst/>
          </a:prstGeom>
          <a:ln w="7620">
            <a:solidFill>
              <a:srgbClr val="314054"/>
            </a:solidFill>
            <a:headEnd type="none"/>
            <a:tailEnd type="none"/>
          </a:ln>
        </p:spPr>
      </p:sp>
      <p:sp>
        <p:nvSpPr>
          <p:cNvPr id="13" name="Text 13"/>
          <p:cNvSpPr txBox="1"/>
          <p:nvPr/>
        </p:nvSpPr>
        <p:spPr>
          <a:xfrm>
            <a:off x="762000" y="3253740"/>
            <a:ext cx="4191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900" b="1" i="0">
                <a:solidFill>
                  <a:srgbClr val="00B59F"/>
                </a:solidFill>
                <a:latin typeface="Arial"/>
                <a:ea typeface="Arial"/>
                <a:cs typeface="Arial"/>
              </a:rPr>
              <a:t xml:space="preserve">02</a:t>
            </a:r>
            <a:endParaRPr lang="ru-RU" sz="900"/>
          </a:p>
        </p:txBody>
      </p:sp>
      <p:sp>
        <p:nvSpPr>
          <p:cNvPr id="14" name="Text 14"/>
          <p:cNvSpPr txBox="1"/>
          <p:nvPr/>
        </p:nvSpPr>
        <p:spPr>
          <a:xfrm>
            <a:off x="1371600" y="3253740"/>
            <a:ext cx="350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20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Временный файл</a:t>
            </a:r>
            <a:endParaRPr lang="ru-RU" sz="1200"/>
          </a:p>
        </p:txBody>
      </p:sp>
      <p:sp>
        <p:nvSpPr>
          <p:cNvPr id="15" name="Text 15"/>
          <p:cNvSpPr txBox="1"/>
          <p:nvPr/>
        </p:nvSpPr>
        <p:spPr>
          <a:xfrm>
            <a:off x="5181600" y="3253740"/>
            <a:ext cx="5867400" cy="396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02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Загруженный PCAP удаляется после разбора.</a:t>
            </a:r>
            <a:endParaRPr lang="ru-RU" sz="1020"/>
          </a:p>
        </p:txBody>
      </p:sp>
      <p:sp>
        <p:nvSpPr>
          <p:cNvPr id="16" name="Line 16"/>
          <p:cNvSpPr/>
          <p:nvPr/>
        </p:nvSpPr>
        <p:spPr>
          <a:xfrm>
            <a:off x="1371600" y="3832860"/>
            <a:ext cx="9677400" cy="7620"/>
          </a:xfrm>
          <a:prstGeom prst="line">
            <a:avLst/>
          </a:prstGeom>
          <a:ln w="7620">
            <a:solidFill>
              <a:srgbClr val="314054"/>
            </a:solidFill>
            <a:headEnd type="none"/>
            <a:tailEnd type="none"/>
          </a:ln>
        </p:spPr>
      </p:sp>
      <p:sp>
        <p:nvSpPr>
          <p:cNvPr id="17" name="Text 17"/>
          <p:cNvSpPr txBox="1"/>
          <p:nvPr/>
        </p:nvSpPr>
        <p:spPr>
          <a:xfrm>
            <a:off x="762000" y="4107180"/>
            <a:ext cx="4191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900" b="1" i="0">
                <a:solidFill>
                  <a:srgbClr val="00B59F"/>
                </a:solidFill>
                <a:latin typeface="Arial"/>
                <a:ea typeface="Arial"/>
                <a:cs typeface="Arial"/>
              </a:rPr>
              <a:t xml:space="preserve">03</a:t>
            </a:r>
            <a:endParaRPr lang="ru-RU" sz="900"/>
          </a:p>
        </p:txBody>
      </p:sp>
      <p:sp>
        <p:nvSpPr>
          <p:cNvPr id="18" name="Text 18"/>
          <p:cNvSpPr txBox="1"/>
          <p:nvPr/>
        </p:nvSpPr>
        <p:spPr>
          <a:xfrm>
            <a:off x="1371600" y="4107180"/>
            <a:ext cx="350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20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Ограниченная память</a:t>
            </a:r>
            <a:endParaRPr lang="ru-RU" sz="1200"/>
          </a:p>
        </p:txBody>
      </p:sp>
      <p:sp>
        <p:nvSpPr>
          <p:cNvPr id="19" name="Text 19"/>
          <p:cNvSpPr txBox="1"/>
          <p:nvPr/>
        </p:nvSpPr>
        <p:spPr>
          <a:xfrm>
            <a:off x="5181600" y="4107180"/>
            <a:ext cx="5867400" cy="396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02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Live-буфер ограничен последними 20 000 пакетами.</a:t>
            </a:r>
            <a:endParaRPr lang="ru-RU" sz="1020"/>
          </a:p>
        </p:txBody>
      </p:sp>
      <p:sp>
        <p:nvSpPr>
          <p:cNvPr id="20" name="Line 20"/>
          <p:cNvSpPr/>
          <p:nvPr/>
        </p:nvSpPr>
        <p:spPr>
          <a:xfrm>
            <a:off x="1371600" y="4686300"/>
            <a:ext cx="9677400" cy="7620"/>
          </a:xfrm>
          <a:prstGeom prst="line">
            <a:avLst/>
          </a:prstGeom>
          <a:ln w="7620">
            <a:solidFill>
              <a:srgbClr val="314054"/>
            </a:solidFill>
            <a:headEnd type="none"/>
            <a:tailEnd type="none"/>
          </a:ln>
        </p:spPr>
      </p:sp>
      <p:sp>
        <p:nvSpPr>
          <p:cNvPr id="21" name="Text 21"/>
          <p:cNvSpPr txBox="1"/>
          <p:nvPr/>
        </p:nvSpPr>
        <p:spPr>
          <a:xfrm>
            <a:off x="762000" y="4960620"/>
            <a:ext cx="4191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900" b="1" i="0">
                <a:solidFill>
                  <a:srgbClr val="00B59F"/>
                </a:solidFill>
                <a:latin typeface="Arial"/>
                <a:ea typeface="Arial"/>
                <a:cs typeface="Arial"/>
              </a:rPr>
              <a:t xml:space="preserve">04</a:t>
            </a:r>
            <a:endParaRPr lang="ru-RU" sz="900"/>
          </a:p>
        </p:txBody>
      </p:sp>
      <p:sp>
        <p:nvSpPr>
          <p:cNvPr id="22" name="Text 22"/>
          <p:cNvSpPr txBox="1"/>
          <p:nvPr/>
        </p:nvSpPr>
        <p:spPr>
          <a:xfrm>
            <a:off x="1371600" y="4960620"/>
            <a:ext cx="350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20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Локальные правила</a:t>
            </a:r>
            <a:endParaRPr lang="ru-RU" sz="1200"/>
          </a:p>
        </p:txBody>
      </p:sp>
      <p:sp>
        <p:nvSpPr>
          <p:cNvPr id="23" name="Text 23"/>
          <p:cNvSpPr txBox="1"/>
          <p:nvPr/>
        </p:nvSpPr>
        <p:spPr>
          <a:xfrm>
            <a:off x="5181600" y="4960620"/>
            <a:ext cx="5867400" cy="396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02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Предупреждения формируются эвристиками по пакетам.</a:t>
            </a:r>
            <a:endParaRPr lang="ru-RU" sz="1020"/>
          </a:p>
        </p:txBody>
      </p:sp>
      <p:sp>
        <p:nvSpPr>
          <p:cNvPr id="24" name="Shape 24"/>
          <p:cNvSpPr/>
          <p:nvPr/>
        </p:nvSpPr>
        <p:spPr>
          <a:xfrm>
            <a:off x="723900" y="5981700"/>
            <a:ext cx="10363200" cy="15240"/>
          </a:xfrm>
          <a:prstGeom prst="rect">
            <a:avLst/>
          </a:prstGeom>
          <a:solidFill>
            <a:srgbClr val="00B59F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723900" y="6134100"/>
            <a:ext cx="10058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840" b="0" i="0">
                <a:solidFill>
                  <a:srgbClr val="F0B35B"/>
                </a:solidFill>
                <a:latin typeface="Arial"/>
                <a:ea typeface="Arial"/>
                <a:cs typeface="Arial"/>
              </a:rPr>
              <a:t xml:space="preserve">Локальные эвристики — средство первичной проверки, а не автоматическое подтверждение атаки.</a:t>
            </a:r>
            <a:endParaRPr lang="ru-RU" sz="84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21B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59F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8534400" y="0"/>
            <a:ext cx="3657600" cy="6858000"/>
          </a:xfrm>
          <a:prstGeom prst="rect">
            <a:avLst/>
          </a:prstGeom>
          <a:solidFill>
            <a:srgbClr val="111B27"/>
          </a:solidFill>
          <a:ln>
            <a:noFill/>
          </a:ln>
        </p:spPr>
      </p:sp>
      <p:sp>
        <p:nvSpPr>
          <p:cNvPr id="5" name="Circle 5"/>
          <p:cNvSpPr/>
          <p:nvPr/>
        </p:nvSpPr>
        <p:spPr>
          <a:xfrm>
            <a:off x="8915400" y="1143000"/>
            <a:ext cx="2057400" cy="2057400"/>
          </a:xfrm>
          <a:prstGeom prst="ellipse">
            <a:avLst/>
          </a:prstGeom>
          <a:solidFill>
            <a:srgbClr val="102D38"/>
          </a:solidFill>
          <a:ln w="15240">
            <a:solidFill>
              <a:srgbClr val="00B59F"/>
            </a:solidFill>
          </a:ln>
        </p:spPr>
      </p:sp>
      <p:sp>
        <p:nvSpPr>
          <p:cNvPr id="6" name="Circle 6"/>
          <p:cNvSpPr/>
          <p:nvPr/>
        </p:nvSpPr>
        <p:spPr>
          <a:xfrm>
            <a:off x="9464040" y="1691640"/>
            <a:ext cx="960120" cy="960120"/>
          </a:xfrm>
          <a:prstGeom prst="ellipse">
            <a:avLst/>
          </a:prstGeom>
          <a:solidFill>
            <a:srgbClr val="087F78"/>
          </a:solidFill>
          <a:ln>
            <a:noFill/>
          </a:ln>
        </p:spPr>
      </p:sp>
      <p:sp>
        <p:nvSpPr>
          <p:cNvPr id="7" name="Circle 7"/>
          <p:cNvSpPr/>
          <p:nvPr/>
        </p:nvSpPr>
        <p:spPr>
          <a:xfrm>
            <a:off x="9784080" y="2011680"/>
            <a:ext cx="320040" cy="320040"/>
          </a:xfrm>
          <a:prstGeom prst="ellipse">
            <a:avLst/>
          </a:prstGeom>
          <a:solidFill>
            <a:srgbClr val="F0B35B"/>
          </a:solidFill>
          <a:ln>
            <a:noFill/>
          </a:ln>
        </p:spPr>
      </p:sp>
      <p:sp>
        <p:nvSpPr>
          <p:cNvPr id="8" name="Line 8"/>
          <p:cNvSpPr/>
          <p:nvPr/>
        </p:nvSpPr>
        <p:spPr>
          <a:xfrm>
            <a:off x="9799320" y="2209800"/>
            <a:ext cx="1249680" cy="1371600"/>
          </a:xfrm>
          <a:prstGeom prst="line">
            <a:avLst/>
          </a:prstGeom>
          <a:ln w="22860">
            <a:solidFill>
              <a:srgbClr val="00B59F"/>
            </a:solidFill>
            <a:headEnd type="none"/>
            <a:tailEnd type="none"/>
          </a:ln>
        </p:spPr>
      </p:sp>
      <p:sp>
        <p:nvSpPr>
          <p:cNvPr id="9" name="Line 9"/>
          <p:cNvSpPr/>
          <p:nvPr/>
        </p:nvSpPr>
        <p:spPr>
          <a:xfrm flipV="1">
            <a:off x="10287000" y="1371600"/>
            <a:ext cx="1219200" cy="914400"/>
          </a:xfrm>
          <a:prstGeom prst="line">
            <a:avLst/>
          </a:prstGeom>
          <a:ln w="22860">
            <a:solidFill>
              <a:srgbClr val="314054"/>
            </a:solidFill>
            <a:headEnd type="none"/>
            <a:tailEnd type="none"/>
          </a:ln>
        </p:spPr>
      </p:sp>
      <p:sp>
        <p:nvSpPr>
          <p:cNvPr id="10" name="Circle 10"/>
          <p:cNvSpPr/>
          <p:nvPr/>
        </p:nvSpPr>
        <p:spPr>
          <a:xfrm>
            <a:off x="10744200" y="3352800"/>
            <a:ext cx="426720" cy="426720"/>
          </a:xfrm>
          <a:prstGeom prst="ellipse">
            <a:avLst/>
          </a:prstGeom>
          <a:solidFill>
            <a:srgbClr val="1C2939"/>
          </a:solidFill>
          <a:ln w="15240">
            <a:solidFill>
              <a:srgbClr val="00B59F"/>
            </a:solidFill>
          </a:ln>
        </p:spPr>
      </p:sp>
      <p:sp>
        <p:nvSpPr>
          <p:cNvPr id="11" name="Circle 11"/>
          <p:cNvSpPr/>
          <p:nvPr/>
        </p:nvSpPr>
        <p:spPr>
          <a:xfrm>
            <a:off x="11292840" y="1143000"/>
            <a:ext cx="289560" cy="289560"/>
          </a:xfrm>
          <a:prstGeom prst="ellipse">
            <a:avLst/>
          </a:prstGeom>
          <a:solidFill>
            <a:srgbClr val="1C2939"/>
          </a:solidFill>
          <a:ln w="15240">
            <a:solidFill>
              <a:srgbClr val="314054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731520" y="685800"/>
            <a:ext cx="57150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840" b="1" i="0" kern="80">
                <a:solidFill>
                  <a:srgbClr val="00B59F"/>
                </a:solidFill>
                <a:latin typeface="Arial"/>
                <a:ea typeface="Arial"/>
                <a:cs typeface="Arial"/>
              </a:rPr>
              <a:t xml:space="preserve">TRAFFIC GUARDIAN   /   LIVE DEMO</a:t>
            </a:r>
            <a:endParaRPr lang="ru-RU" sz="840"/>
          </a:p>
        </p:txBody>
      </p:sp>
      <p:sp>
        <p:nvSpPr>
          <p:cNvPr id="13" name="Text 13"/>
          <p:cNvSpPr txBox="1"/>
          <p:nvPr/>
        </p:nvSpPr>
        <p:spPr>
          <a:xfrm>
            <a:off x="701040" y="1714500"/>
            <a:ext cx="7467600" cy="990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312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Посмотреть продукт</a:t>
            </a:r>
            <a:endParaRPr lang="ru-RU" sz="3120"/>
          </a:p>
          <a:p>
            <a:pPr algn="l"/>
            <a:r>
              <a:rPr lang="ru-RU" sz="3120" b="1" i="0">
                <a:solidFill>
                  <a:srgbClr val="E8EEF5"/>
                </a:solidFill>
                <a:latin typeface="Arial"/>
                <a:ea typeface="Arial"/>
                <a:cs typeface="Arial"/>
              </a:rPr>
              <a:t xml:space="preserve">в работе</a:t>
            </a:r>
            <a:endParaRPr lang="ru-RU" sz="3120"/>
          </a:p>
        </p:txBody>
      </p:sp>
      <p:sp>
        <p:nvSpPr>
          <p:cNvPr id="14" name="Text 14"/>
          <p:cNvSpPr txBox="1"/>
          <p:nvPr/>
        </p:nvSpPr>
        <p:spPr>
          <a:xfrm>
            <a:off x="746760" y="3200400"/>
            <a:ext cx="6324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32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Откройте панель и оцените интерфейс</a:t>
            </a:r>
            <a:endParaRPr lang="ru-RU" sz="1320"/>
          </a:p>
          <a:p>
            <a:pPr algn="l"/>
            <a:r>
              <a:rPr lang="ru-RU" sz="132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мониторинга сетевого трафика.</a:t>
            </a:r>
            <a:endParaRPr lang="ru-RU" sz="1320"/>
          </a:p>
        </p:txBody>
      </p:sp>
      <p:sp>
        <p:nvSpPr>
          <p:cNvPr id="15" name="Shape 15"/>
          <p:cNvSpPr/>
          <p:nvPr/>
        </p:nvSpPr>
        <p:spPr>
          <a:xfrm>
            <a:off x="746760" y="4267200"/>
            <a:ext cx="4419600" cy="594360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944880" y="4427220"/>
            <a:ext cx="3962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320" b="1" i="0">
                <a:solidFill>
                  <a:srgbClr val="E8EEF5"/>
                </a:solidFill>
                <a:latin typeface="Arial"/>
                <a:ea typeface="Arial"/>
                <a:cs typeface="Arial"/>
                <a:hlinkClick r:id="rId2" tooltip="Открыть Traffic Guardian"/>
              </a:rPr>
              <a:t xml:space="preserve">tg.mpnetwork.space  ↗</a:t>
            </a:r>
            <a:endParaRPr lang="ru-RU" sz="1320"/>
          </a:p>
        </p:txBody>
      </p:sp>
      <p:sp>
        <p:nvSpPr>
          <p:cNvPr id="17" name="Text 17"/>
          <p:cNvSpPr txBox="1"/>
          <p:nvPr/>
        </p:nvSpPr>
        <p:spPr>
          <a:xfrm>
            <a:off x="746760" y="5334000"/>
            <a:ext cx="63246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1080" b="0" i="0">
                <a:solidFill>
                  <a:srgbClr val="00B59F"/>
                </a:solidFill>
                <a:latin typeface="Arial"/>
                <a:ea typeface="Arial"/>
                <a:cs typeface="Arial"/>
                <a:hlinkClick r:id="rId3" tooltip="Открыть Traffic Guardian"/>
              </a:rPr>
              <a:t xml:space="preserve">https://tg.mpnetwork.space</a:t>
            </a:r>
            <a:endParaRPr lang="ru-RU" sz="1080"/>
          </a:p>
        </p:txBody>
      </p:sp>
      <p:sp>
        <p:nvSpPr>
          <p:cNvPr id="18" name="Text 18"/>
          <p:cNvSpPr txBox="1"/>
          <p:nvPr/>
        </p:nvSpPr>
        <p:spPr>
          <a:xfrm>
            <a:off x="746760" y="6172200"/>
            <a:ext cx="6096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l"/>
            <a:r>
              <a:rPr lang="ru-RU" sz="840" b="0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Traffic Guardian  ·  Live capture  ·  Local heuristics</a:t>
            </a:r>
            <a:endParaRPr lang="ru-RU" sz="840"/>
          </a:p>
        </p:txBody>
      </p:sp>
      <p:sp>
        <p:nvSpPr>
          <p:cNvPr id="19" name="Text 19"/>
          <p:cNvSpPr txBox="1"/>
          <p:nvPr/>
        </p:nvSpPr>
        <p:spPr>
          <a:xfrm>
            <a:off x="11049000" y="6248400"/>
            <a:ext cx="6096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noAutofit/>
          </a:bodyPr>
          <a:lstStyle/>
          <a:p>
            <a:pPr algn="r"/>
            <a:r>
              <a:rPr lang="ru-RU" sz="720" b="1" i="0">
                <a:solidFill>
                  <a:srgbClr val="A3B1C2"/>
                </a:solidFill>
                <a:latin typeface="Arial"/>
                <a:ea typeface="Arial"/>
                <a:cs typeface="Arial"/>
              </a:rPr>
              <a:t xml:space="preserve">08 / 08</a:t>
            </a:r>
            <a:endParaRPr lang="ru-RU" sz="7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ffic Guardian">
  <a:themeElements>
    <a:clrScheme name="Traffic Guardian">
      <a:dk1>
        <a:srgbClr val="0C121B"/>
      </a:dk1>
      <a:lt1>
        <a:srgbClr val="E8EEF5"/>
      </a:lt1>
      <a:dk2>
        <a:srgbClr val="151F2D"/>
      </a:dk2>
      <a:lt2>
        <a:srgbClr val="A3B1C2"/>
      </a:lt2>
      <a:accent1>
        <a:srgbClr val="00B59F"/>
      </a:accent1>
      <a:accent2>
        <a:srgbClr val="F0B35B"/>
      </a:accent2>
      <a:accent3>
        <a:srgbClr val="EC7063"/>
      </a:accent3>
      <a:accent4>
        <a:srgbClr val="314054"/>
      </a:accent4>
      <a:accent5>
        <a:srgbClr val="087F78"/>
      </a:accent5>
      <a:accent6>
        <a:srgbClr val="1C2939"/>
      </a:accent6>
      <a:hlink>
        <a:srgbClr val="00B59F"/>
      </a:hlink>
      <a:folHlink>
        <a:srgbClr val="087F78"/>
      </a:folHlink>
    </a:clrScheme>
    <a:fontScheme name="Traffic Guardia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Traffic Guardian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